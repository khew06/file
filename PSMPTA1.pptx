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83" r:id="rId9"/>
    <p:sldId id="288" r:id="rId10"/>
    <p:sldId id="262" r:id="rId11"/>
    <p:sldId id="287" r:id="rId12"/>
    <p:sldId id="284" r:id="rId13"/>
    <p:sldId id="285" r:id="rId14"/>
    <p:sldId id="263" r:id="rId15"/>
    <p:sldId id="264" r:id="rId16"/>
    <p:sldId id="265" r:id="rId17"/>
    <p:sldId id="266" r:id="rId18"/>
    <p:sldId id="268" r:id="rId19"/>
    <p:sldId id="292" r:id="rId20"/>
    <p:sldId id="291" r:id="rId21"/>
    <p:sldId id="293" r:id="rId22"/>
    <p:sldId id="289" r:id="rId23"/>
    <p:sldId id="290" r:id="rId24"/>
    <p:sldId id="294" r:id="rId25"/>
    <p:sldId id="295" r:id="rId26"/>
    <p:sldId id="269" r:id="rId27"/>
    <p:sldId id="281" r:id="rId28"/>
  </p:sldIdLst>
  <p:sldSz cx="12192000" cy="6858000"/>
  <p:notesSz cx="6858000" cy="9144000"/>
  <p:embeddedFontLst>
    <p:embeddedFont>
      <p:font typeface="Tahoma" panose="020B0604030504040204" pitchFamily="3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PFVJQtwOj0W3NAIysiYYQSlv4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384688-96F7-4723-9B27-299947701A39}">
  <a:tblStyle styleId="{0C384688-96F7-4723-9B27-299947701A39}" styleName="Table_0">
    <a:wholeTbl>
      <a:tcTxStyle b="off" i="off">
        <a:font>
          <a:latin typeface="Avenir Next LT Pro"/>
          <a:ea typeface="Avenir Next LT Pro"/>
          <a:cs typeface="Avenir Next LT Pr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F"/>
          </a:solidFill>
        </a:fill>
      </a:tcStyle>
    </a:wholeTbl>
    <a:band1H>
      <a:tcTxStyle/>
      <a:tcStyle>
        <a:tcBdr/>
        <a:fill>
          <a:solidFill>
            <a:srgbClr val="F9D6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9D6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56365E4-EBE7-4DEB-A256-CE46C5A45ECB}" styleName="Table_1">
    <a:wholeTbl>
      <a:tcTxStyle b="off" i="off">
        <a:font>
          <a:latin typeface="Avenir Next LT Pro"/>
          <a:ea typeface="Avenir Next LT Pro"/>
          <a:cs typeface="Avenir Next LT Pro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0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</a:t>
            </a:r>
            <a:endParaRPr/>
          </a:p>
        </p:txBody>
      </p:sp>
      <p:sp>
        <p:nvSpPr>
          <p:cNvPr id="130" name="Google Shape;1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F2637E2-509F-EAB0-699F-CCED10E4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>
            <a:extLst>
              <a:ext uri="{FF2B5EF4-FFF2-40B4-BE49-F238E27FC236}">
                <a16:creationId xmlns:a16="http://schemas.microsoft.com/office/drawing/2014/main" id="{83DA3608-96D0-70FF-6272-81A8A2DCF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>
            <a:extLst>
              <a:ext uri="{FF2B5EF4-FFF2-40B4-BE49-F238E27FC236}">
                <a16:creationId xmlns:a16="http://schemas.microsoft.com/office/drawing/2014/main" id="{8683D3F3-BA14-5F01-F4A7-2DE4DAB36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7873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24fc43df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c24fc43df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2c24fc43df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24fc43df3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2c24fc43df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3141f7e6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c3141f7e6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3141f7e6a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3141f7e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c3141f7e6a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2c3141f7e6a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5FC05D4-7621-58B5-740D-EDB6442B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3141f7e6a_0_12:notes">
            <a:extLst>
              <a:ext uri="{FF2B5EF4-FFF2-40B4-BE49-F238E27FC236}">
                <a16:creationId xmlns:a16="http://schemas.microsoft.com/office/drawing/2014/main" id="{F5F2647C-12C7-0527-9788-C6F6E9F64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c3141f7e6a_0_12:notes">
            <a:extLst>
              <a:ext uri="{FF2B5EF4-FFF2-40B4-BE49-F238E27FC236}">
                <a16:creationId xmlns:a16="http://schemas.microsoft.com/office/drawing/2014/main" id="{FFC037B4-054F-251A-AFB2-348A1AA80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2c3141f7e6a_0_12:notes">
            <a:extLst>
              <a:ext uri="{FF2B5EF4-FFF2-40B4-BE49-F238E27FC236}">
                <a16:creationId xmlns:a16="http://schemas.microsoft.com/office/drawing/2014/main" id="{7755DEAF-FE46-A896-4AEF-88CC989275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9292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6DB380A-3BD8-C816-C32E-92BDDD5D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3141f7e6a_0_12:notes">
            <a:extLst>
              <a:ext uri="{FF2B5EF4-FFF2-40B4-BE49-F238E27FC236}">
                <a16:creationId xmlns:a16="http://schemas.microsoft.com/office/drawing/2014/main" id="{E0EC6AE3-7433-A225-D068-7A18417AC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c3141f7e6a_0_12:notes">
            <a:extLst>
              <a:ext uri="{FF2B5EF4-FFF2-40B4-BE49-F238E27FC236}">
                <a16:creationId xmlns:a16="http://schemas.microsoft.com/office/drawing/2014/main" id="{5D37A620-995E-73D2-F620-99808A14F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2c3141f7e6a_0_12:notes">
            <a:extLst>
              <a:ext uri="{FF2B5EF4-FFF2-40B4-BE49-F238E27FC236}">
                <a16:creationId xmlns:a16="http://schemas.microsoft.com/office/drawing/2014/main" id="{945FE6FD-E2E1-7000-0B5A-F389CA7EB3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112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3141f7e6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c3141f7e6a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c3141f7e6a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2"/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3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3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4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4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5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16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17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8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9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0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1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 rot="-17228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rPr lang="en-US" dirty="0"/>
              <a:t>PSM1/PTA 1</a:t>
            </a:r>
            <a:endParaRPr dirty="0"/>
          </a:p>
        </p:txBody>
      </p:sp>
      <p:sp>
        <p:nvSpPr>
          <p:cNvPr id="114" name="Google Shape;114;p1"/>
          <p:cNvSpPr txBox="1"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Project Based</a:t>
            </a:r>
            <a:endParaRPr dirty="0"/>
          </a:p>
        </p:txBody>
      </p:sp>
      <p:pic>
        <p:nvPicPr>
          <p:cNvPr id="115" name="Google Shape;115;p1"/>
          <p:cNvPicPr preferRelativeResize="0"/>
          <p:nvPr/>
        </p:nvPicPr>
        <p:blipFill rotWithShape="1">
          <a:blip r:embed="rId3">
            <a:alphaModFix/>
          </a:blip>
          <a:srcRect l="30216" r="15871" b="1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 extrusionOk="0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6" name="Google Shape;116;p1"/>
          <p:cNvSpPr/>
          <p:nvPr/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/>
          <p:nvPr/>
        </p:nvSpPr>
        <p:spPr>
          <a:xfrm>
            <a:off x="3048" y="4293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ahoma"/>
              <a:buNone/>
            </a:pPr>
            <a:r>
              <a:rPr lang="en-US" sz="4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Chapter 1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1.1 Introduction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1.2 Problem Statement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1.3 Objective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1.4 Scope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1.5 Thesis Organization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6" name="Google Shape;126;p2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ahoma"/>
              <a:buNone/>
            </a:pPr>
            <a:r>
              <a:rPr lang="en-US" sz="4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Chapter 2</a:t>
            </a:r>
            <a:endParaRPr/>
          </a:p>
        </p:txBody>
      </p:sp>
      <p:sp>
        <p:nvSpPr>
          <p:cNvPr id="135" name="Google Shape;135;p3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2.1 Introduction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2.2 Existing System 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2.2 Existing System 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2.3 Existing System 3</a:t>
            </a:r>
            <a:endParaRPr/>
          </a:p>
          <a:p>
            <a:pPr marL="1143000" lvl="2" indent="-215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Tahoma"/>
              <a:buChar char="•"/>
            </a:pPr>
            <a:r>
              <a:rPr lang="en-US" sz="40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Description of the system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1143000" lvl="2" indent="-215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Tahoma"/>
              <a:buChar char="•"/>
            </a:pPr>
            <a:r>
              <a:rPr lang="en-US" sz="40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How you do Requirement elicitation (eg: observation, interview, previous document)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1143000" lvl="2" indent="-215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Tahoma"/>
              <a:buChar char="•"/>
            </a:pPr>
            <a:r>
              <a:rPr lang="en-US" sz="40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Flow chart / activity diagram for that systems (work analysis)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1143000" lvl="2" indent="-1111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36" name="Google Shape;136;p3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3048" y="4293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ahoma"/>
              <a:buNone/>
            </a:pPr>
            <a:r>
              <a:rPr lang="en-US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Chapter 3</a:t>
            </a:r>
            <a:endParaRPr/>
          </a:p>
        </p:txBody>
      </p:sp>
      <p:sp>
        <p:nvSpPr>
          <p:cNvPr id="144" name="Google Shape;144;p4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5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3.1 Introduction</a:t>
            </a:r>
            <a:endParaRPr dirty="0"/>
          </a:p>
          <a:p>
            <a:pPr marL="22860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3.2 Software Process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3600"/>
              <a:buChar char="•"/>
            </a:pPr>
            <a:r>
              <a:rPr lang="en-US" sz="3600" dirty="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Why choose this software process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3600"/>
              <a:buChar char="•"/>
            </a:pPr>
            <a:r>
              <a:rPr lang="en-US" sz="3600" dirty="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Gantt Chart</a:t>
            </a:r>
            <a:endParaRPr dirty="0"/>
          </a:p>
          <a:p>
            <a:pPr marL="22860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3.3 Project Requirement</a:t>
            </a:r>
            <a:endParaRPr dirty="0"/>
          </a:p>
          <a:p>
            <a:pPr marL="22860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3.4 Proposed Design</a:t>
            </a:r>
            <a:endParaRPr dirty="0"/>
          </a:p>
          <a:p>
            <a:pPr marL="22860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3.5 Data Design</a:t>
            </a:r>
            <a:endParaRPr dirty="0"/>
          </a:p>
          <a:p>
            <a:pPr marL="22860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3.6 Proof of Concepts</a:t>
            </a:r>
            <a:endParaRPr dirty="0"/>
          </a:p>
          <a:p>
            <a:pPr marL="22860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3.7 Testing Plan </a:t>
            </a:r>
            <a:endParaRPr dirty="0"/>
          </a:p>
        </p:txBody>
      </p:sp>
      <p:sp>
        <p:nvSpPr>
          <p:cNvPr id="145" name="Google Shape;145;p4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 rot="-853893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36676" y="1"/>
            <a:ext cx="10515600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</a:pPr>
            <a:r>
              <a:rPr lang="en-US"/>
              <a:t>Chapter 3</a:t>
            </a:r>
            <a:endParaRPr/>
          </a:p>
        </p:txBody>
      </p:sp>
      <p:graphicFrame>
        <p:nvGraphicFramePr>
          <p:cNvPr id="153" name="Google Shape;153;p5"/>
          <p:cNvGraphicFramePr/>
          <p:nvPr>
            <p:extLst>
              <p:ext uri="{D42A27DB-BD31-4B8C-83A1-F6EECF244321}">
                <p14:modId xmlns:p14="http://schemas.microsoft.com/office/powerpoint/2010/main" val="2422823826"/>
              </p:ext>
            </p:extLst>
          </p:nvPr>
        </p:nvGraphicFramePr>
        <p:xfrm>
          <a:off x="440587" y="693888"/>
          <a:ext cx="11361775" cy="5807400"/>
        </p:xfrm>
        <a:graphic>
          <a:graphicData uri="http://schemas.openxmlformats.org/drawingml/2006/table">
            <a:tbl>
              <a:tblPr firstRow="1" bandRow="1">
                <a:noFill/>
                <a:tableStyleId>{0C384688-96F7-4723-9B27-299947701A39}</a:tableStyleId>
              </a:tblPr>
              <a:tblGrid>
                <a:gridCol w="246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Section</a:t>
                      </a:r>
                      <a:endParaRPr/>
                    </a:p>
                  </a:txBody>
                  <a:tcPr marL="100825" marR="14150" marT="77550" marB="775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OOAD</a:t>
                      </a:r>
                      <a:endParaRPr/>
                    </a:p>
                  </a:txBody>
                  <a:tcPr marL="100825" marR="14150" marT="77550" marB="775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SSAD</a:t>
                      </a:r>
                      <a:endParaRPr/>
                    </a:p>
                  </a:txBody>
                  <a:tcPr marL="100825" marR="14150" marT="77550" marB="775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3.3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Project Requirement</a:t>
                      </a:r>
                      <a:endParaRPr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 Case</a:t>
                      </a:r>
                      <a:endParaRPr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 Case Description</a:t>
                      </a:r>
                      <a:endParaRPr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Sequence Diagram</a:t>
                      </a:r>
                      <a:endParaRPr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Context Diagram</a:t>
                      </a:r>
                      <a:endParaRPr dirty="0"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DFD Level 0 …n</a:t>
                      </a:r>
                      <a:endParaRPr dirty="0"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Flow chart</a:t>
                      </a:r>
                      <a:endParaRPr dirty="0"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3.4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Proposed Design</a:t>
                      </a:r>
                      <a:endParaRPr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General architecture</a:t>
                      </a:r>
                      <a:endParaRPr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Package diagram</a:t>
                      </a:r>
                      <a:endParaRPr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Class with relationships (class name ONLY without attribute and method)</a:t>
                      </a:r>
                      <a:endParaRPr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Package structural</a:t>
                      </a:r>
                      <a:endParaRPr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Dialog Diagram </a:t>
                      </a:r>
                      <a:endParaRPr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GUI</a:t>
                      </a:r>
                      <a:endParaRPr dirty="0"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3.5</a:t>
                      </a:r>
                      <a:b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</a:b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Data Design</a:t>
                      </a:r>
                      <a:endParaRPr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ERD</a:t>
                      </a:r>
                      <a:endParaRPr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Database design (PK, FK)/ Data Model / Input data and Output Data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Json Tree for no SQL DB</a:t>
                      </a:r>
                      <a:endParaRPr dirty="0"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ERD</a:t>
                      </a:r>
                      <a:endParaRPr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Database design (PK, FK)/ Data Model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Json Tree for no SQL DB</a:t>
                      </a:r>
                      <a:endParaRPr lang="en-US"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endParaRPr dirty="0"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3.6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Proof of Concept</a:t>
                      </a:r>
                      <a:b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</a:b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Package Structure in implementation</a:t>
                      </a:r>
                      <a:endParaRPr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API use Framework Environment setup</a:t>
                      </a:r>
                      <a:endParaRPr dirty="0"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Package Structure in implementation</a:t>
                      </a:r>
                      <a:endParaRPr dirty="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API use Framework Environment setup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 dirty="0">
                        <a:solidFill>
                          <a:srgbClr val="0070C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3.7</a:t>
                      </a:r>
                      <a:br>
                        <a:rPr lang="en-US" sz="1600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</a:br>
                      <a:r>
                        <a:rPr lang="en-US" sz="1600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Testing Plan / Validation Plan</a:t>
                      </a:r>
                      <a:endParaRPr/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UAT / survey / usability testing (user feedback) </a:t>
                      </a:r>
                      <a:endParaRPr dirty="0"/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cap="non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Test case / Survey question</a:t>
                      </a:r>
                      <a:endParaRPr dirty="0"/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Decide Quality Characteristics (ISO/IEC 9126) to achieve by designing software testing using suitable metrics and tools.</a:t>
                      </a:r>
                      <a:endParaRPr sz="1600" b="0" cap="none" dirty="0">
                        <a:solidFill>
                          <a:srgbClr val="0070C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00825" marR="259550" marT="77550" marB="775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70B53FF0-D152-044A-F753-6ECACD112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3.3.1 OOAD – Use Case Diagram</a:t>
            </a:r>
            <a:endParaRPr dirty="0"/>
          </a:p>
        </p:txBody>
      </p:sp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84F011B3-AFE5-24D7-B615-AE952BB4A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46" y="1911272"/>
            <a:ext cx="5417900" cy="44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4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011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3.3.3 OOAD – Use Case Description</a:t>
            </a:r>
            <a:endParaRPr dirty="0"/>
          </a:p>
        </p:txBody>
      </p:sp>
      <p:graphicFrame>
        <p:nvGraphicFramePr>
          <p:cNvPr id="159" name="Google Shape;159;p6"/>
          <p:cNvGraphicFramePr/>
          <p:nvPr/>
        </p:nvGraphicFramePr>
        <p:xfrm>
          <a:off x="1108172" y="1096030"/>
          <a:ext cx="8959650" cy="3739925"/>
        </p:xfrm>
        <a:graphic>
          <a:graphicData uri="http://schemas.openxmlformats.org/drawingml/2006/table">
            <a:tbl>
              <a:tblPr firstRow="1" bandRow="1">
                <a:noFill/>
                <a:tableStyleId>{B56365E4-EBE7-4DEB-A256-CE46C5A45ECB}</a:tableStyleId>
              </a:tblPr>
              <a:tblGrid>
                <a:gridCol w="335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Use Case 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Brief Description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Actor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Pre-Conditions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Basic Flow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Post Conditions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Constraints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C1C7DAFD-129F-3640-9CCE-DB73E5DE7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3.3.2 SSAD – </a:t>
            </a:r>
            <a:r>
              <a:rPr lang="en-US" sz="4000" dirty="0" err="1">
                <a:latin typeface="Tahoma"/>
                <a:ea typeface="Tahoma"/>
                <a:cs typeface="Tahoma"/>
                <a:sym typeface="Tahoma"/>
              </a:rPr>
              <a:t>ContextDiagram</a:t>
            </a:r>
            <a:endParaRPr dirty="0"/>
          </a:p>
        </p:txBody>
      </p:sp>
      <p:pic>
        <p:nvPicPr>
          <p:cNvPr id="5" name="Picture 4" descr="A diagram of data processing&#10;&#10;Description automatically generated">
            <a:extLst>
              <a:ext uri="{FF2B5EF4-FFF2-40B4-BE49-F238E27FC236}">
                <a16:creationId xmlns:a16="http://schemas.microsoft.com/office/drawing/2014/main" id="{8A0E15CE-8E65-9491-7521-B11E63827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34" y="1557704"/>
            <a:ext cx="5905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7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5905-1612-90A9-E32C-CD72978B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306A4CE0-82D2-A725-90E3-10E7B85BF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3.3.2 SSAD – DFD </a:t>
            </a:r>
            <a:endParaRPr dirty="0"/>
          </a:p>
        </p:txBody>
      </p:sp>
      <p:pic>
        <p:nvPicPr>
          <p:cNvPr id="4" name="Picture 3" descr="A diagram of a book order&#10;&#10;Description automatically generated">
            <a:extLst>
              <a:ext uri="{FF2B5EF4-FFF2-40B4-BE49-F238E27FC236}">
                <a16:creationId xmlns:a16="http://schemas.microsoft.com/office/drawing/2014/main" id="{BDB28187-38A3-C8E1-BAA4-E45EC9A9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29" y="1541895"/>
            <a:ext cx="4960418" cy="478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6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82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3.4.1 Propose Design</a:t>
            </a:r>
            <a:endParaRPr dirty="0"/>
          </a:p>
        </p:txBody>
      </p:sp>
      <p:sp>
        <p:nvSpPr>
          <p:cNvPr id="165" name="Google Shape;165;p7"/>
          <p:cNvSpPr txBox="1"/>
          <p:nvPr/>
        </p:nvSpPr>
        <p:spPr>
          <a:xfrm>
            <a:off x="909400" y="1001350"/>
            <a:ext cx="9686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Project Based: Package Structure ( High level View) in Implementation + API+ Middleware or Library Use</a:t>
            </a:r>
            <a:endParaRPr sz="22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50" y="1964750"/>
            <a:ext cx="9954650" cy="47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4BD275C-80AC-BCF5-7386-D207BDCE8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>
            <a:extLst>
              <a:ext uri="{FF2B5EF4-FFF2-40B4-BE49-F238E27FC236}">
                <a16:creationId xmlns:a16="http://schemas.microsoft.com/office/drawing/2014/main" id="{2DF5E4F2-BC3B-4556-2C3B-46F23B1A4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82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3.4.2 SSAD Dialogue Diagram</a:t>
            </a:r>
            <a:endParaRPr dirty="0"/>
          </a:p>
        </p:txBody>
      </p:sp>
      <p:pic>
        <p:nvPicPr>
          <p:cNvPr id="3" name="Picture 2" descr="A diagram of a computer system&#10;&#10;Description automatically generated with medium confidence">
            <a:extLst>
              <a:ext uri="{FF2B5EF4-FFF2-40B4-BE49-F238E27FC236}">
                <a16:creationId xmlns:a16="http://schemas.microsoft.com/office/drawing/2014/main" id="{5AFB9D87-6648-54CF-2774-86766B907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567" y="829558"/>
            <a:ext cx="9260865" cy="60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8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693CC5F0-9D98-B27D-9615-75CF145853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3.5.1 ERD</a:t>
            </a:r>
            <a:endParaRPr dirty="0"/>
          </a:p>
        </p:txBody>
      </p:sp>
      <p:pic>
        <p:nvPicPr>
          <p:cNvPr id="5" name="Picture 4" descr="A diagram of a program">
            <a:extLst>
              <a:ext uri="{FF2B5EF4-FFF2-40B4-BE49-F238E27FC236}">
                <a16:creationId xmlns:a16="http://schemas.microsoft.com/office/drawing/2014/main" id="{AA2DA65E-972E-5A58-871E-A0792CE1C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418492"/>
            <a:ext cx="7189910" cy="51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1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FECCDBF1-8B5A-B9E9-82E4-0040AD1B99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3.5.2 JSON Tree</a:t>
            </a:r>
            <a:endParaRPr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91BC4F7-0747-3917-AC96-D226062BC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1" y="1301262"/>
            <a:ext cx="11193437" cy="52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86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24fc43df3_0_1"/>
          <p:cNvSpPr txBox="1">
            <a:spLocks noGrp="1"/>
          </p:cNvSpPr>
          <p:nvPr>
            <p:ph type="title"/>
          </p:nvPr>
        </p:nvSpPr>
        <p:spPr>
          <a:xfrm>
            <a:off x="449450" y="275500"/>
            <a:ext cx="10515600" cy="8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Example 3.6 Proof of Concept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Sub package Struture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3" name="Google Shape;173;g2c24fc43df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775" y="1329900"/>
            <a:ext cx="8251032" cy="544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24fc43df3_0_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8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Example 3.6 Proof of Concept</a:t>
            </a:r>
            <a:endParaRPr/>
          </a:p>
        </p:txBody>
      </p:sp>
      <p:sp>
        <p:nvSpPr>
          <p:cNvPr id="179" name="Google Shape;179;g2c24fc43df3_0_6"/>
          <p:cNvSpPr txBox="1"/>
          <p:nvPr/>
        </p:nvSpPr>
        <p:spPr>
          <a:xfrm>
            <a:off x="909400" y="1001350"/>
            <a:ext cx="9686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Example of Implementation</a:t>
            </a:r>
            <a:endParaRPr sz="25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80" name="Google Shape;180;g2c24fc43df3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0750"/>
            <a:ext cx="10443099" cy="507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82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Example 3.7 Testing Plan</a:t>
            </a:r>
            <a:endParaRPr/>
          </a:p>
        </p:txBody>
      </p:sp>
      <p:pic>
        <p:nvPicPr>
          <p:cNvPr id="186" name="Google Shape;18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247" y="928109"/>
            <a:ext cx="8160052" cy="539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3141f7e6a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Example 3.7 Testing Plan</a:t>
            </a:r>
            <a:endParaRPr/>
          </a:p>
        </p:txBody>
      </p:sp>
      <p:pic>
        <p:nvPicPr>
          <p:cNvPr id="193" name="Google Shape;193;g2c3141f7e6a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950" y="1502125"/>
            <a:ext cx="9096155" cy="486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3141f7e6a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3.7.1 Testing Strategy for Functional Requirements</a:t>
            </a:r>
            <a:endParaRPr sz="40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g2c3141f7e6a_0_12"/>
          <p:cNvSpPr txBox="1"/>
          <p:nvPr/>
        </p:nvSpPr>
        <p:spPr>
          <a:xfrm>
            <a:off x="968525" y="2222575"/>
            <a:ext cx="86532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Testing based on requirements</a:t>
            </a: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Business process-based testing</a:t>
            </a: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Use Case Testing</a:t>
            </a: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64AD-37D2-1918-A035-7A0E0BA7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 – SE student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9D97F-A761-9D3B-5C91-041DE80BD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666875"/>
            <a:ext cx="11525250" cy="438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8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19CB-34AF-535D-0C37-B2E1DCCD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UAT Method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F08A9-0090-B567-FF8F-4A4A9DD7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65" y="1402080"/>
            <a:ext cx="9370141" cy="491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52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47B7-903F-F143-6593-BAF93A93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</a:t>
            </a:r>
            <a:endParaRPr lang="en-MY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FE5A0-1A2E-8926-CBE0-854AE04D0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221629"/>
              </p:ext>
            </p:extLst>
          </p:nvPr>
        </p:nvGraphicFramePr>
        <p:xfrm>
          <a:off x="1127432" y="1690687"/>
          <a:ext cx="8930968" cy="3451585"/>
        </p:xfrm>
        <a:graphic>
          <a:graphicData uri="http://schemas.openxmlformats.org/drawingml/2006/table">
            <a:tbl>
              <a:tblPr firstRow="1" bandRow="1">
                <a:tableStyleId>{0C384688-96F7-4723-9B27-299947701A39}</a:tableStyleId>
              </a:tblPr>
              <a:tblGrid>
                <a:gridCol w="2232742">
                  <a:extLst>
                    <a:ext uri="{9D8B030D-6E8A-4147-A177-3AD203B41FA5}">
                      <a16:colId xmlns:a16="http://schemas.microsoft.com/office/drawing/2014/main" val="3321765921"/>
                    </a:ext>
                  </a:extLst>
                </a:gridCol>
                <a:gridCol w="2232742">
                  <a:extLst>
                    <a:ext uri="{9D8B030D-6E8A-4147-A177-3AD203B41FA5}">
                      <a16:colId xmlns:a16="http://schemas.microsoft.com/office/drawing/2014/main" val="2418194354"/>
                    </a:ext>
                  </a:extLst>
                </a:gridCol>
                <a:gridCol w="2232742">
                  <a:extLst>
                    <a:ext uri="{9D8B030D-6E8A-4147-A177-3AD203B41FA5}">
                      <a16:colId xmlns:a16="http://schemas.microsoft.com/office/drawing/2014/main" val="27574714"/>
                    </a:ext>
                  </a:extLst>
                </a:gridCol>
                <a:gridCol w="2232742">
                  <a:extLst>
                    <a:ext uri="{9D8B030D-6E8A-4147-A177-3AD203B41FA5}">
                      <a16:colId xmlns:a16="http://schemas.microsoft.com/office/drawing/2014/main" val="1519806373"/>
                    </a:ext>
                  </a:extLst>
                </a:gridCol>
              </a:tblGrid>
              <a:tr h="690317">
                <a:tc>
                  <a:txBody>
                    <a:bodyPr/>
                    <a:lstStyle/>
                    <a:p>
                      <a:r>
                        <a:rPr lang="en-US" dirty="0"/>
                        <a:t>Test Case ID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Case Description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 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415887"/>
                  </a:ext>
                </a:extLst>
              </a:tr>
              <a:tr h="690317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317948"/>
                  </a:ext>
                </a:extLst>
              </a:tr>
              <a:tr h="690317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355511"/>
                  </a:ext>
                </a:extLst>
              </a:tr>
              <a:tr h="690317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984893"/>
                  </a:ext>
                </a:extLst>
              </a:tr>
              <a:tr h="690317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517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146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37140104-94D4-00D5-641D-576DE836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3141f7e6a_0_12">
            <a:extLst>
              <a:ext uri="{FF2B5EF4-FFF2-40B4-BE49-F238E27FC236}">
                <a16:creationId xmlns:a16="http://schemas.microsoft.com/office/drawing/2014/main" id="{9FC53E1C-78DA-B778-556B-B1F335C27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3.7 Testing Strategy for Survey</a:t>
            </a:r>
            <a:endParaRPr sz="40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g2c3141f7e6a_0_12">
            <a:extLst>
              <a:ext uri="{FF2B5EF4-FFF2-40B4-BE49-F238E27FC236}">
                <a16:creationId xmlns:a16="http://schemas.microsoft.com/office/drawing/2014/main" id="{72E49DC2-5BF0-3787-362A-EB6D8653C913}"/>
              </a:ext>
            </a:extLst>
          </p:cNvPr>
          <p:cNvSpPr txBox="1"/>
          <p:nvPr/>
        </p:nvSpPr>
        <p:spPr>
          <a:xfrm>
            <a:off x="968525" y="1310358"/>
            <a:ext cx="8653200" cy="579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 fontAlgn="base"/>
            <a:r>
              <a:rPr 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Survey testing is an important part of the survey development process to provide guide to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1. Adequacy of the sampling frame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2. Variability of the target population about the survey subject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3. Expected non-response rate and the effectiveness of measures aimed at reducing non-response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4. Suitability of the data collection method, including testing of various methods to determine the most suitable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5. Adequacy of the questionnaire, including testing of alternative versions to determine the most effective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6. Effectiveness of interviewer training and the adequacy of survey instructions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7. Answer categories to be used for pre-coded questions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8. Likely cost and duration of parts of the survey and the survey as a whole</a:t>
            </a:r>
          </a:p>
          <a:p>
            <a:pPr algn="l" fontAlgn="base">
              <a:spcBef>
                <a:spcPts val="1500"/>
              </a:spcBef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9. 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inherit"/>
              </a:rPr>
              <a:t>Organisation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inherit"/>
              </a:rPr>
              <a:t> of the survey.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3067851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7D06A1B1-1931-A040-3F24-00C65CAA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3141f7e6a_0_12">
            <a:extLst>
              <a:ext uri="{FF2B5EF4-FFF2-40B4-BE49-F238E27FC236}">
                <a16:creationId xmlns:a16="http://schemas.microsoft.com/office/drawing/2014/main" id="{D0A16BAC-D52D-AD5A-0523-2873157E6D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latin typeface="Tahoma"/>
                <a:ea typeface="Tahoma"/>
                <a:cs typeface="Tahoma"/>
                <a:sym typeface="Tahoma"/>
              </a:rPr>
              <a:t>Example 3.7.2 Testing Strategy for Survey </a:t>
            </a:r>
            <a:endParaRPr sz="40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Google Shape;207;g2c3141f7e6a_0_12">
            <a:extLst>
              <a:ext uri="{FF2B5EF4-FFF2-40B4-BE49-F238E27FC236}">
                <a16:creationId xmlns:a16="http://schemas.microsoft.com/office/drawing/2014/main" id="{E83CD0D3-302A-D478-3E8C-6A4B6539813A}"/>
              </a:ext>
            </a:extLst>
          </p:cNvPr>
          <p:cNvSpPr txBox="1"/>
          <p:nvPr/>
        </p:nvSpPr>
        <p:spPr>
          <a:xfrm>
            <a:off x="968525" y="2222575"/>
            <a:ext cx="86532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Testing based on a questionnaire</a:t>
            </a: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Expert Interview </a:t>
            </a: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Field testing with expert</a:t>
            </a: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AutoNum type="arabicPeriod"/>
            </a:pP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122133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41DD-011C-9595-E7A2-41FFC42E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Question Example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4318B-C0F5-1537-AA50-F421A1844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5" y="2304952"/>
            <a:ext cx="8504903" cy="32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56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C188-D159-1142-EDC7-36E31656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Result Example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48E19-50E9-A329-E4F8-C407E8D2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30" y="1690688"/>
            <a:ext cx="8770374" cy="37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70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3141f7e6a_0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Example 3.7 Testing Strategy for Non-Functional Requirements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4" name="Google Shape;214;g2c3141f7e6a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050" y="1753675"/>
            <a:ext cx="8614661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>
            <a:spLocks noGrp="1"/>
          </p:cNvSpPr>
          <p:nvPr>
            <p:ph type="title"/>
          </p:nvPr>
        </p:nvSpPr>
        <p:spPr>
          <a:xfrm>
            <a:off x="1524000" y="4218281"/>
            <a:ext cx="4265007" cy="188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rPr lang="en-US" sz="6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Thank You</a:t>
            </a:r>
            <a:endParaRPr/>
          </a:p>
        </p:txBody>
      </p:sp>
      <p:pic>
        <p:nvPicPr>
          <p:cNvPr id="300" name="Google Shape;300;p9" descr="Smiling Face with No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6657" y="678145"/>
            <a:ext cx="3287267" cy="3287267"/>
          </a:xfrm>
          <a:custGeom>
            <a:avLst/>
            <a:gdLst/>
            <a:ahLst/>
            <a:cxnLst/>
            <a:rect l="l" t="t" r="r" b="b"/>
            <a:pathLst>
              <a:path w="10823796" h="3287267" extrusionOk="0">
                <a:moveTo>
                  <a:pt x="98881" y="0"/>
                </a:moveTo>
                <a:lnTo>
                  <a:pt x="10724915" y="0"/>
                </a:lnTo>
                <a:cubicBezTo>
                  <a:pt x="10779525" y="0"/>
                  <a:pt x="10823796" y="44271"/>
                  <a:pt x="10823796" y="98881"/>
                </a:cubicBezTo>
                <a:lnTo>
                  <a:pt x="10823796" y="3188386"/>
                </a:lnTo>
                <a:cubicBezTo>
                  <a:pt x="10823796" y="3242996"/>
                  <a:pt x="10779525" y="3287267"/>
                  <a:pt x="10724915" y="3287267"/>
                </a:cubicBezTo>
                <a:lnTo>
                  <a:pt x="98881" y="3287267"/>
                </a:lnTo>
                <a:cubicBezTo>
                  <a:pt x="44271" y="3287267"/>
                  <a:pt x="0" y="3242996"/>
                  <a:pt x="0" y="3188386"/>
                </a:cubicBezTo>
                <a:lnTo>
                  <a:pt x="0" y="98881"/>
                </a:lnTo>
                <a:cubicBezTo>
                  <a:pt x="0" y="44271"/>
                  <a:pt x="44271" y="0"/>
                  <a:pt x="9888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813617" y="421828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5B9BD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038539" y="3295432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429</Words>
  <Application>Microsoft Office PowerPoint</Application>
  <PresentationFormat>Widescreen</PresentationFormat>
  <Paragraphs>123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Avenir Next LT Pro</vt:lpstr>
      <vt:lpstr>inherit</vt:lpstr>
      <vt:lpstr>Avenir</vt:lpstr>
      <vt:lpstr>Tahoma</vt:lpstr>
      <vt:lpstr>Noto Sans Symbols</vt:lpstr>
      <vt:lpstr>Twentieth Century</vt:lpstr>
      <vt:lpstr>Arial</vt:lpstr>
      <vt:lpstr>Calibri</vt:lpstr>
      <vt:lpstr>ShapesVTI</vt:lpstr>
      <vt:lpstr>PSM1/PTA 1</vt:lpstr>
      <vt:lpstr>Chapter 1</vt:lpstr>
      <vt:lpstr>Chapter 2</vt:lpstr>
      <vt:lpstr>Chapter 3</vt:lpstr>
      <vt:lpstr>Chapter 3</vt:lpstr>
      <vt:lpstr>Example 3.3.1 OOAD – Use Case Diagram</vt:lpstr>
      <vt:lpstr>Example 3.3.3 OOAD – Use Case Description</vt:lpstr>
      <vt:lpstr>Example 3.3.2 SSAD – ContextDiagram</vt:lpstr>
      <vt:lpstr>Example 3.3.2 SSAD – DFD </vt:lpstr>
      <vt:lpstr>Example 3.4.1 Propose Design</vt:lpstr>
      <vt:lpstr>Example 3.4.2 SSAD Dialogue Diagram</vt:lpstr>
      <vt:lpstr>Example 3.5.1 ERD</vt:lpstr>
      <vt:lpstr>Example 3.5.2 JSON Tree</vt:lpstr>
      <vt:lpstr>Example 3.6 Proof of Concept Sub package Struture</vt:lpstr>
      <vt:lpstr>Example 3.6 Proof of Concept</vt:lpstr>
      <vt:lpstr>Example 3.7 Testing Plan</vt:lpstr>
      <vt:lpstr>Example 3.7 Testing Plan</vt:lpstr>
      <vt:lpstr>Example 3.7.1 Testing Strategy for Functional Requirements</vt:lpstr>
      <vt:lpstr>Test Case – SE student</vt:lpstr>
      <vt:lpstr>UAT Method</vt:lpstr>
      <vt:lpstr>Test Result</vt:lpstr>
      <vt:lpstr>Example 3.7 Testing Strategy for Survey</vt:lpstr>
      <vt:lpstr>Example 3.7.2 Testing Strategy for Survey </vt:lpstr>
      <vt:lpstr>Survey Question Example</vt:lpstr>
      <vt:lpstr>Survey Result Example</vt:lpstr>
      <vt:lpstr>Example 3.7 Testing Strategy for Non-Functional Requirements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PSM1/PTA 1</dc:title>
  <dc:creator>AZMA BINTI ABDULLAH.</dc:creator>
  <cp:lastModifiedBy>Zalili</cp:lastModifiedBy>
  <cp:revision>8</cp:revision>
  <dcterms:created xsi:type="dcterms:W3CDTF">2024-02-27T08:25:15Z</dcterms:created>
  <dcterms:modified xsi:type="dcterms:W3CDTF">2024-11-20T07:04:00Z</dcterms:modified>
</cp:coreProperties>
</file>