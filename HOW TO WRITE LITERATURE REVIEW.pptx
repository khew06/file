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1CF8-7034-4B5A-AB4B-2BCB3731B42F}" type="datetimeFigureOut">
              <a:rPr lang="en-MY" smtClean="0"/>
              <a:t>8/11/2024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920CDF1-D9EE-42EC-B74F-BEEBA5017AB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18115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1CF8-7034-4B5A-AB4B-2BCB3731B42F}" type="datetimeFigureOut">
              <a:rPr lang="en-MY" smtClean="0"/>
              <a:t>8/11/2024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0CDF1-D9EE-42EC-B74F-BEEBA5017AB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43151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1CF8-7034-4B5A-AB4B-2BCB3731B42F}" type="datetimeFigureOut">
              <a:rPr lang="en-MY" smtClean="0"/>
              <a:t>8/11/2024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20CDF1-D9EE-42EC-B74F-BEEBA5017AB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36840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1CF8-7034-4B5A-AB4B-2BCB3731B42F}" type="datetimeFigureOut">
              <a:rPr lang="en-MY" smtClean="0"/>
              <a:t>8/11/2024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20CDF1-D9EE-42EC-B74F-BEEBA5017AB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97200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1CF8-7034-4B5A-AB4B-2BCB3731B42F}" type="datetimeFigureOut">
              <a:rPr lang="en-MY" smtClean="0"/>
              <a:t>8/11/2024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20CDF1-D9EE-42EC-B74F-BEEBA5017AB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780519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1CF8-7034-4B5A-AB4B-2BCB3731B42F}" type="datetimeFigureOut">
              <a:rPr lang="en-MY" smtClean="0"/>
              <a:t>8/11/2024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0CDF1-D9EE-42EC-B74F-BEEBA5017AB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58473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1CF8-7034-4B5A-AB4B-2BCB3731B42F}" type="datetimeFigureOut">
              <a:rPr lang="en-MY" smtClean="0"/>
              <a:t>8/11/2024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0CDF1-D9EE-42EC-B74F-BEEBA5017AB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61045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1CF8-7034-4B5A-AB4B-2BCB3731B42F}" type="datetimeFigureOut">
              <a:rPr lang="en-MY" smtClean="0"/>
              <a:t>8/11/2024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0CDF1-D9EE-42EC-B74F-BEEBA5017AB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502460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1CF8-7034-4B5A-AB4B-2BCB3731B42F}" type="datetimeFigureOut">
              <a:rPr lang="en-MY" smtClean="0"/>
              <a:t>8/11/2024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20CDF1-D9EE-42EC-B74F-BEEBA5017AB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37766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1CF8-7034-4B5A-AB4B-2BCB3731B42F}" type="datetimeFigureOut">
              <a:rPr lang="en-MY" smtClean="0"/>
              <a:t>8/11/2024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20CDF1-D9EE-42EC-B74F-BEEBA5017AB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67314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1CF8-7034-4B5A-AB4B-2BCB3731B42F}" type="datetimeFigureOut">
              <a:rPr lang="en-MY" smtClean="0"/>
              <a:t>8/11/2024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20CDF1-D9EE-42EC-B74F-BEEBA5017AB2}" type="slidenum">
              <a:rPr lang="en-MY" smtClean="0"/>
              <a:t>‹#›</a:t>
            </a:fld>
            <a:endParaRPr lang="en-MY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3427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1CF8-7034-4B5A-AB4B-2BCB3731B42F}" type="datetimeFigureOut">
              <a:rPr lang="en-MY" smtClean="0"/>
              <a:t>8/11/2024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20CDF1-D9EE-42EC-B74F-BEEBA5017AB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29194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1CF8-7034-4B5A-AB4B-2BCB3731B42F}" type="datetimeFigureOut">
              <a:rPr lang="en-MY" smtClean="0"/>
              <a:t>8/11/2024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20CDF1-D9EE-42EC-B74F-BEEBA5017AB2}" type="slidenum">
              <a:rPr lang="en-MY" smtClean="0"/>
              <a:t>‹#›</a:t>
            </a:fld>
            <a:endParaRPr lang="en-MY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86107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1CF8-7034-4B5A-AB4B-2BCB3731B42F}" type="datetimeFigureOut">
              <a:rPr lang="en-MY" smtClean="0"/>
              <a:t>8/11/2024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20CDF1-D9EE-42EC-B74F-BEEBA5017AB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632490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1CF8-7034-4B5A-AB4B-2BCB3731B42F}" type="datetimeFigureOut">
              <a:rPr lang="en-MY" smtClean="0"/>
              <a:t>8/11/2024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0CDF1-D9EE-42EC-B74F-BEEBA5017AB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544352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1CF8-7034-4B5A-AB4B-2BCB3731B42F}" type="datetimeFigureOut">
              <a:rPr lang="en-MY" smtClean="0"/>
              <a:t>8/11/2024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0CDF1-D9EE-42EC-B74F-BEEBA5017AB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44717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FA1CF8-7034-4B5A-AB4B-2BCB3731B42F}" type="datetimeFigureOut">
              <a:rPr lang="en-MY" smtClean="0"/>
              <a:t>8/11/2024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920CDF1-D9EE-42EC-B74F-BEEBA5017AB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13400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MY" b="1" dirty="0"/>
              <a:t>HOW TO WRITE LITERATURE REVIEW</a:t>
            </a:r>
            <a:r>
              <a:rPr lang="en-MY" b="1" dirty="0" smtClean="0"/>
              <a:t>?</a:t>
            </a:r>
            <a:endParaRPr lang="en-MY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By: </a:t>
            </a:r>
            <a:r>
              <a:rPr lang="en-US" dirty="0" err="1" smtClean="0"/>
              <a:t>Ts</a:t>
            </a:r>
            <a:r>
              <a:rPr lang="en-US" dirty="0" smtClean="0"/>
              <a:t>. Dr. Zalili </a:t>
            </a:r>
            <a:r>
              <a:rPr lang="en-US" dirty="0" err="1" smtClean="0"/>
              <a:t>Binti</a:t>
            </a:r>
            <a:r>
              <a:rPr lang="en-US" dirty="0" smtClean="0"/>
              <a:t> Musa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445520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What is a Literature Review</a:t>
            </a:r>
            <a:r>
              <a:rPr lang="en-MY" b="1" dirty="0" smtClean="0"/>
              <a:t>?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MY" dirty="0"/>
              <a:t>A literature review is a part of research where you gather, read, and evaluate studies or articles that have been published on the topic you’re studying. In a literature review, you:</a:t>
            </a:r>
          </a:p>
          <a:p>
            <a:pPr lvl="1"/>
            <a:r>
              <a:rPr lang="en-MY" b="1" dirty="0"/>
              <a:t>Organize Information</a:t>
            </a:r>
            <a:r>
              <a:rPr lang="en-MY" dirty="0"/>
              <a:t> - Gather information from various sources, such as journal articles, books, or research reports, related to your topic.</a:t>
            </a:r>
          </a:p>
          <a:p>
            <a:pPr lvl="1"/>
            <a:r>
              <a:rPr lang="en-MY" b="1" dirty="0"/>
              <a:t>Compare and Evaluate</a:t>
            </a:r>
            <a:r>
              <a:rPr lang="en-MY" dirty="0"/>
              <a:t> - Assess and compare findings in previous studies, identifying similarities, differences, or gaps in the research.</a:t>
            </a:r>
          </a:p>
          <a:p>
            <a:pPr lvl="1"/>
            <a:r>
              <a:rPr lang="en-MY" b="1" dirty="0"/>
              <a:t>Summarize Key Findings</a:t>
            </a:r>
            <a:r>
              <a:rPr lang="en-MY" dirty="0"/>
              <a:t> - Conclude the main points learned from previous studies and explain how they help shape your project or research.</a:t>
            </a:r>
          </a:p>
          <a:p>
            <a:pPr marL="0" indent="0">
              <a:buNone/>
            </a:pPr>
            <a:r>
              <a:rPr lang="en-MY" dirty="0"/>
              <a:t>A literature review helps readers understand what is already known about the topic and why your research is important to expand current knowledge.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23345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b="1" dirty="0"/>
              <a:t>1. Understand the Purpose of a Literature Review</a:t>
            </a:r>
            <a:r>
              <a:rPr lang="en-MY" dirty="0"/>
              <a:t/>
            </a:r>
            <a:br>
              <a:rPr lang="en-MY" dirty="0"/>
            </a:b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MY" dirty="0"/>
              <a:t>The literature review is meant to provide context for your research, establish the foundation of your study, and showcase the existing knowledge in your field. It allows you to:</a:t>
            </a:r>
            <a:endParaRPr lang="en-MY" sz="1600" dirty="0"/>
          </a:p>
          <a:p>
            <a:pPr lvl="1"/>
            <a:r>
              <a:rPr lang="en-MY" dirty="0"/>
              <a:t>Demonstrate your understanding of the topic.</a:t>
            </a:r>
            <a:endParaRPr lang="en-MY" sz="1400" dirty="0"/>
          </a:p>
          <a:p>
            <a:pPr lvl="1"/>
            <a:r>
              <a:rPr lang="en-MY" dirty="0"/>
              <a:t>Show the relevance and importance of your research question.</a:t>
            </a:r>
            <a:endParaRPr lang="en-MY" sz="1400" dirty="0"/>
          </a:p>
          <a:p>
            <a:pPr lvl="1"/>
            <a:r>
              <a:rPr lang="en-MY" dirty="0"/>
              <a:t>Identify gaps or areas of disagreement in the existing literature that your research will address.</a:t>
            </a:r>
            <a:endParaRPr lang="en-MY" sz="1400" dirty="0"/>
          </a:p>
          <a:p>
            <a:pPr marL="0" indent="0">
              <a:buNone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264251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2. Define the Scope of Your </a:t>
            </a:r>
            <a:r>
              <a:rPr lang="en-MY" b="1" dirty="0" smtClean="0"/>
              <a:t>Review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MY" dirty="0"/>
              <a:t>Decide on the specific topic or research question your review will cover.</a:t>
            </a:r>
          </a:p>
          <a:p>
            <a:pPr lvl="0"/>
            <a:r>
              <a:rPr lang="en-MY" dirty="0"/>
              <a:t>Determine the breadth of literature you'll cover. Narrowing down to a specific theme, concept, or trend in your field will make the review more focused.</a:t>
            </a:r>
          </a:p>
          <a:p>
            <a:pPr lvl="0"/>
            <a:r>
              <a:rPr lang="en-MY" dirty="0"/>
              <a:t>Set criteria for selecting articles (e.g., publication date, journal type, relevant keywords).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022913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3. Search for Relevant </a:t>
            </a:r>
            <a:r>
              <a:rPr lang="en-MY" b="1" dirty="0" smtClean="0"/>
              <a:t>Literature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MY" dirty="0"/>
              <a:t>Use academic databases like Google Scholar, JSTOR, PubMed, IEEE </a:t>
            </a:r>
            <a:r>
              <a:rPr lang="en-MY" dirty="0" err="1"/>
              <a:t>Xplore</a:t>
            </a:r>
            <a:r>
              <a:rPr lang="en-MY" dirty="0"/>
              <a:t>, or others specific to your field.</a:t>
            </a:r>
          </a:p>
          <a:p>
            <a:pPr lvl="0"/>
            <a:r>
              <a:rPr lang="en-MY" dirty="0"/>
              <a:t>Use specific keywords related to your topic, and consider using Boolean operators (AND, OR, NOT) to refine your search.</a:t>
            </a:r>
          </a:p>
          <a:p>
            <a:pPr lvl="0"/>
            <a:r>
              <a:rPr lang="en-MY" dirty="0"/>
              <a:t>Organize your search results and keep track of citations using reference management software like </a:t>
            </a:r>
            <a:r>
              <a:rPr lang="en-MY" dirty="0" err="1"/>
              <a:t>Zotero</a:t>
            </a:r>
            <a:r>
              <a:rPr lang="en-MY" dirty="0"/>
              <a:t>, </a:t>
            </a:r>
            <a:r>
              <a:rPr lang="en-MY" dirty="0" err="1"/>
              <a:t>Mendeley</a:t>
            </a:r>
            <a:r>
              <a:rPr lang="en-MY" dirty="0"/>
              <a:t>, or EndNote.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92926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4. Read and Evaluate the </a:t>
            </a:r>
            <a:r>
              <a:rPr lang="en-MY" b="1" dirty="0" smtClean="0"/>
              <a:t>Sources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MY" dirty="0"/>
              <a:t>Focus on abstracts first to decide if a paper is relevant before reading the full text.</a:t>
            </a:r>
            <a:endParaRPr lang="en-MY" sz="1600" dirty="0"/>
          </a:p>
          <a:p>
            <a:pPr lvl="0"/>
            <a:r>
              <a:rPr lang="en-MY" dirty="0"/>
              <a:t>Take detailed notes on each source, particularly focusing on:</a:t>
            </a:r>
            <a:endParaRPr lang="en-MY" sz="1600" dirty="0"/>
          </a:p>
          <a:p>
            <a:pPr lvl="1"/>
            <a:r>
              <a:rPr lang="en-MY" dirty="0"/>
              <a:t>The research question or objective of the study.</a:t>
            </a:r>
            <a:endParaRPr lang="en-MY" sz="1400" dirty="0"/>
          </a:p>
          <a:p>
            <a:pPr lvl="1"/>
            <a:r>
              <a:rPr lang="en-MY" dirty="0"/>
              <a:t>The methodology and approach used.</a:t>
            </a:r>
            <a:endParaRPr lang="en-MY" sz="1400" dirty="0"/>
          </a:p>
          <a:p>
            <a:pPr lvl="1"/>
            <a:r>
              <a:rPr lang="en-MY" dirty="0"/>
              <a:t>Key findings and conclusions.</a:t>
            </a:r>
            <a:endParaRPr lang="en-MY" sz="1400" dirty="0"/>
          </a:p>
          <a:p>
            <a:pPr lvl="1"/>
            <a:r>
              <a:rPr lang="en-MY" dirty="0"/>
              <a:t>How the study relates to other research in the field?</a:t>
            </a:r>
            <a:endParaRPr lang="en-MY" sz="1400" dirty="0"/>
          </a:p>
          <a:p>
            <a:pPr lvl="0"/>
            <a:r>
              <a:rPr lang="en-MY" dirty="0"/>
              <a:t>Critically evaluate each source: consider limitations, biases, and how it contributes to your understanding of the topic.</a:t>
            </a:r>
            <a:endParaRPr lang="en-MY" sz="1600" dirty="0"/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34490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b="1" dirty="0"/>
              <a:t>5. Organize the Literature Review Structure</a:t>
            </a:r>
            <a:r>
              <a:rPr lang="en-MY" dirty="0"/>
              <a:t/>
            </a:r>
            <a:br>
              <a:rPr lang="en-MY" dirty="0"/>
            </a:b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MY" dirty="0"/>
              <a:t>Structure the literature review logically. Common ways to organize include:</a:t>
            </a:r>
            <a:endParaRPr lang="en-MY" sz="1600" dirty="0"/>
          </a:p>
          <a:p>
            <a:pPr lvl="1"/>
            <a:r>
              <a:rPr lang="en-MY" b="1" dirty="0"/>
              <a:t>Thematic:</a:t>
            </a:r>
            <a:r>
              <a:rPr lang="en-MY" dirty="0"/>
              <a:t> Group studies by themes or subtopics related to your research.</a:t>
            </a:r>
            <a:endParaRPr lang="en-MY" sz="1400" dirty="0"/>
          </a:p>
          <a:p>
            <a:pPr lvl="1"/>
            <a:r>
              <a:rPr lang="en-MY" b="1" dirty="0"/>
              <a:t>Chronological:</a:t>
            </a:r>
            <a:r>
              <a:rPr lang="en-MY" dirty="0"/>
              <a:t> Organize studies in the order they were published to show the development of the field over time.</a:t>
            </a:r>
            <a:endParaRPr lang="en-MY" sz="1400" dirty="0"/>
          </a:p>
          <a:p>
            <a:pPr lvl="1"/>
            <a:r>
              <a:rPr lang="en-MY" b="1" dirty="0"/>
              <a:t>Methodological:</a:t>
            </a:r>
            <a:r>
              <a:rPr lang="en-MY" dirty="0"/>
              <a:t> Organize based on the research methods used, highlighting various approaches and their outcomes.</a:t>
            </a:r>
            <a:endParaRPr lang="en-MY" sz="1400" dirty="0"/>
          </a:p>
          <a:p>
            <a:pPr lvl="1"/>
            <a:r>
              <a:rPr lang="en-MY" b="1" dirty="0"/>
              <a:t>Theoretical:</a:t>
            </a:r>
            <a:r>
              <a:rPr lang="en-MY" dirty="0"/>
              <a:t> Focus on different theories or models relevant to your topic.</a:t>
            </a:r>
            <a:endParaRPr lang="en-MY" sz="1400" dirty="0"/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406958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6. Write the Literature </a:t>
            </a:r>
            <a:r>
              <a:rPr lang="en-MY" b="1" dirty="0" smtClean="0"/>
              <a:t>Review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MY" b="1" dirty="0"/>
              <a:t>Introduction:</a:t>
            </a:r>
            <a:r>
              <a:rPr lang="en-MY" dirty="0"/>
              <a:t> Briefly introduce the topic, state the purpose of the literature review, and explain the organization of the review.</a:t>
            </a:r>
            <a:endParaRPr lang="en-MY" sz="1600" dirty="0"/>
          </a:p>
          <a:p>
            <a:pPr lvl="0"/>
            <a:r>
              <a:rPr lang="en-MY" b="1" dirty="0"/>
              <a:t>Body:</a:t>
            </a:r>
            <a:r>
              <a:rPr lang="en-MY" dirty="0"/>
              <a:t> Discuss the literature based on the structure you’ve chosen (thematic, chronological, etc.). For each section:</a:t>
            </a:r>
            <a:endParaRPr lang="en-MY" sz="1600" dirty="0"/>
          </a:p>
          <a:p>
            <a:pPr lvl="1"/>
            <a:r>
              <a:rPr lang="en-MY" dirty="0"/>
              <a:t>Summarize the key studies and their findings.</a:t>
            </a:r>
            <a:endParaRPr lang="en-MY" sz="1400" dirty="0"/>
          </a:p>
          <a:p>
            <a:pPr lvl="1"/>
            <a:r>
              <a:rPr lang="en-MY" dirty="0"/>
              <a:t>Synthesize how these studies contribute to the understanding of your topic.</a:t>
            </a:r>
            <a:endParaRPr lang="en-MY" sz="1400" dirty="0"/>
          </a:p>
          <a:p>
            <a:pPr lvl="1"/>
            <a:r>
              <a:rPr lang="en-MY" dirty="0"/>
              <a:t>Critically analyse strengths, weaknesses, and gaps in the research.</a:t>
            </a:r>
            <a:endParaRPr lang="en-MY" sz="1400" dirty="0"/>
          </a:p>
          <a:p>
            <a:pPr lvl="1"/>
            <a:r>
              <a:rPr lang="en-MY" dirty="0"/>
              <a:t>Transition smoothly between sections to maintain flow.</a:t>
            </a:r>
            <a:endParaRPr lang="en-MY" sz="1400" dirty="0"/>
          </a:p>
          <a:p>
            <a:pPr lvl="0"/>
            <a:r>
              <a:rPr lang="en-MY" b="1" dirty="0"/>
              <a:t>Conclusion:</a:t>
            </a:r>
            <a:r>
              <a:rPr lang="en-MY" dirty="0"/>
              <a:t> Summarize the main trends, gaps, and insights from the literature. Connect this summary to your research question, stating how your project will address identified gaps or expand on the findings.</a:t>
            </a:r>
            <a:endParaRPr lang="en-MY" sz="1600" dirty="0"/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737201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7. Maintain a Critical </a:t>
            </a:r>
            <a:r>
              <a:rPr lang="en-MY" b="1" dirty="0" smtClean="0"/>
              <a:t>Voice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MY" dirty="0"/>
              <a:t>Avoid just summarizing studies one by one. Instead, show your analysis and understanding by:</a:t>
            </a:r>
            <a:endParaRPr lang="en-MY" sz="1600" dirty="0"/>
          </a:p>
          <a:p>
            <a:pPr lvl="1"/>
            <a:r>
              <a:rPr lang="en-MY" dirty="0"/>
              <a:t>Comparing studies that have similar findings or conflicting conclusions.</a:t>
            </a:r>
            <a:endParaRPr lang="en-MY" sz="1400" dirty="0"/>
          </a:p>
          <a:p>
            <a:pPr lvl="1"/>
            <a:r>
              <a:rPr lang="en-MY" dirty="0"/>
              <a:t>Highlighting how methodologies or perspectives vary.</a:t>
            </a:r>
            <a:endParaRPr lang="en-MY" sz="1400" dirty="0"/>
          </a:p>
          <a:p>
            <a:pPr lvl="1"/>
            <a:r>
              <a:rPr lang="en-MY" dirty="0"/>
              <a:t>Identifying any limitations, biases, or missing aspects in the literature.</a:t>
            </a:r>
            <a:endParaRPr lang="en-MY" sz="1400" dirty="0"/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032529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8. Use Proper </a:t>
            </a:r>
            <a:r>
              <a:rPr lang="en-MY" b="1" dirty="0" smtClean="0"/>
              <a:t>Citations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MY" dirty="0"/>
              <a:t>Be consistent with your referencing style (</a:t>
            </a:r>
            <a:r>
              <a:rPr lang="en-MY" b="1" dirty="0" smtClean="0"/>
              <a:t>APA</a:t>
            </a:r>
            <a:r>
              <a:rPr lang="en-MY" dirty="0" smtClean="0"/>
              <a:t>, MLA, Chicago, etc.) </a:t>
            </a:r>
            <a:r>
              <a:rPr lang="en-MY" dirty="0"/>
              <a:t>as per your institution’s guidelines.</a:t>
            </a:r>
          </a:p>
          <a:p>
            <a:pPr lvl="0"/>
            <a:r>
              <a:rPr lang="en-MY" dirty="0"/>
              <a:t>Cite each source accurately in-text and provide a full reference list at the end.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643041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9. Revise and </a:t>
            </a:r>
            <a:r>
              <a:rPr lang="en-MY" b="1" dirty="0" smtClean="0"/>
              <a:t>Proofread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MY" dirty="0"/>
              <a:t>Review your literature review to ensure clarity, flow, and coherence.</a:t>
            </a:r>
          </a:p>
          <a:p>
            <a:pPr lvl="0"/>
            <a:r>
              <a:rPr lang="en-MY" dirty="0"/>
              <a:t>Check for grammar, spelling, and formatting errors.</a:t>
            </a:r>
          </a:p>
          <a:p>
            <a:pPr lvl="0"/>
            <a:r>
              <a:rPr lang="en-MY" dirty="0"/>
              <a:t>Ensure that all your arguments are supported by the literature and that there are clear links between sections.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651630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Sample Outline of a Literature </a:t>
            </a:r>
            <a:r>
              <a:rPr lang="en-MY" b="1" dirty="0" smtClean="0"/>
              <a:t>Review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MY" b="1" dirty="0"/>
              <a:t>Introduction</a:t>
            </a:r>
            <a:endParaRPr lang="en-MY" sz="1600" dirty="0"/>
          </a:p>
          <a:p>
            <a:pPr lvl="1"/>
            <a:r>
              <a:rPr lang="en-MY" dirty="0"/>
              <a:t>Topic overview and background.</a:t>
            </a:r>
            <a:endParaRPr lang="en-MY" sz="1400" dirty="0"/>
          </a:p>
          <a:p>
            <a:pPr lvl="1"/>
            <a:r>
              <a:rPr lang="en-MY" dirty="0"/>
              <a:t>Purpose and importance of the literature review.</a:t>
            </a:r>
            <a:endParaRPr lang="en-MY" sz="1400" dirty="0"/>
          </a:p>
          <a:p>
            <a:pPr lvl="1"/>
            <a:r>
              <a:rPr lang="en-MY" dirty="0"/>
              <a:t>Structure and scope.</a:t>
            </a:r>
            <a:endParaRPr lang="en-MY" sz="1400" dirty="0"/>
          </a:p>
          <a:p>
            <a:pPr lvl="0"/>
            <a:r>
              <a:rPr lang="en-MY" b="1" dirty="0"/>
              <a:t>Main Body</a:t>
            </a:r>
            <a:endParaRPr lang="en-MY" sz="1600" dirty="0"/>
          </a:p>
          <a:p>
            <a:pPr lvl="1"/>
            <a:r>
              <a:rPr lang="en-MY" b="1" dirty="0"/>
              <a:t>Thematic Section 1</a:t>
            </a:r>
            <a:r>
              <a:rPr lang="en-MY" dirty="0"/>
              <a:t>: Topic A</a:t>
            </a:r>
            <a:endParaRPr lang="en-MY" sz="1400" dirty="0"/>
          </a:p>
          <a:p>
            <a:pPr lvl="2"/>
            <a:r>
              <a:rPr lang="en-MY" dirty="0"/>
              <a:t>Summary and synthesis of relevant literature.</a:t>
            </a:r>
            <a:endParaRPr lang="en-MY" sz="1200" dirty="0"/>
          </a:p>
          <a:p>
            <a:pPr lvl="2"/>
            <a:r>
              <a:rPr lang="en-MY" dirty="0"/>
              <a:t>Critical analysis and comparison of key studies.</a:t>
            </a:r>
            <a:endParaRPr lang="en-MY" sz="1200" dirty="0"/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054530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Sample Outline of a Literature </a:t>
            </a:r>
            <a:r>
              <a:rPr lang="en-MY" b="1" dirty="0" smtClean="0"/>
              <a:t>Review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 dirty="0"/>
          </a:p>
          <a:p>
            <a:pPr lvl="1"/>
            <a:r>
              <a:rPr lang="en-MY" b="1" dirty="0"/>
              <a:t>Thematic Section 2</a:t>
            </a:r>
            <a:r>
              <a:rPr lang="en-MY" dirty="0"/>
              <a:t>: Topic B</a:t>
            </a:r>
            <a:endParaRPr lang="en-MY" sz="1400" dirty="0"/>
          </a:p>
          <a:p>
            <a:pPr lvl="2"/>
            <a:r>
              <a:rPr lang="en-MY" dirty="0"/>
              <a:t>Summary and synthesis of relevant literature.</a:t>
            </a:r>
            <a:endParaRPr lang="en-MY" sz="1200" dirty="0"/>
          </a:p>
          <a:p>
            <a:pPr lvl="2"/>
            <a:r>
              <a:rPr lang="en-MY" dirty="0"/>
              <a:t>Critical analysis and comparison of key studies.</a:t>
            </a:r>
            <a:endParaRPr lang="en-MY" sz="1200" dirty="0"/>
          </a:p>
          <a:p>
            <a:pPr lvl="1"/>
            <a:r>
              <a:rPr lang="en-MY" dirty="0"/>
              <a:t>(Continue with additional sections as needed)</a:t>
            </a:r>
            <a:endParaRPr lang="en-MY" sz="1400" dirty="0"/>
          </a:p>
          <a:p>
            <a:pPr lvl="0"/>
            <a:r>
              <a:rPr lang="en-MY" b="1" dirty="0"/>
              <a:t>Conclusion</a:t>
            </a:r>
            <a:endParaRPr lang="en-MY" sz="1600" dirty="0"/>
          </a:p>
          <a:p>
            <a:pPr lvl="1"/>
            <a:r>
              <a:rPr lang="en-MY" dirty="0"/>
              <a:t>Summary of key findings from the literature.</a:t>
            </a:r>
            <a:endParaRPr lang="en-MY" sz="1400" dirty="0"/>
          </a:p>
          <a:p>
            <a:pPr lvl="1"/>
            <a:r>
              <a:rPr lang="en-MY" dirty="0"/>
              <a:t>Identification of gaps or areas needing further research.</a:t>
            </a:r>
            <a:endParaRPr lang="en-MY" sz="1400" dirty="0"/>
          </a:p>
          <a:p>
            <a:pPr lvl="1"/>
            <a:r>
              <a:rPr lang="en-MY" dirty="0"/>
              <a:t>Connection to your research project and how it addresses these gaps.</a:t>
            </a:r>
            <a:endParaRPr lang="en-MY" sz="1400" dirty="0"/>
          </a:p>
        </p:txBody>
      </p:sp>
    </p:spTree>
    <p:extLst>
      <p:ext uri="{BB962C8B-B14F-4D97-AF65-F5344CB8AC3E}">
        <p14:creationId xmlns:p14="http://schemas.microsoft.com/office/powerpoint/2010/main" val="286551682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</TotalTime>
  <Words>917</Words>
  <Application>Microsoft Office PowerPoint</Application>
  <PresentationFormat>Widescreen</PresentationFormat>
  <Paragraphs>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Wisp</vt:lpstr>
      <vt:lpstr>HOW TO WRITE LITERATURE REVIEW?</vt:lpstr>
      <vt:lpstr>What is a Literature Review?</vt:lpstr>
      <vt:lpstr>1. Understand the Purpose of a Literature Review </vt:lpstr>
      <vt:lpstr>2. Define the Scope of Your Review</vt:lpstr>
      <vt:lpstr>3. Search for Relevant Literature</vt:lpstr>
      <vt:lpstr>4. Read and Evaluate the Sources</vt:lpstr>
      <vt:lpstr>5. Organize the Literature Review Structure </vt:lpstr>
      <vt:lpstr>6. Write the Literature Review</vt:lpstr>
      <vt:lpstr>7. Maintain a Critical Voice</vt:lpstr>
      <vt:lpstr>8. Use Proper Citations</vt:lpstr>
      <vt:lpstr>9. Revise and Proofread</vt:lpstr>
      <vt:lpstr>Sample Outline of a Literature Review</vt:lpstr>
      <vt:lpstr>Sample Outline of a Literature 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WRITE LITERATURE REVIEW?</dc:title>
  <dc:creator>Zalili</dc:creator>
  <cp:lastModifiedBy>Zalili</cp:lastModifiedBy>
  <cp:revision>3</cp:revision>
  <dcterms:created xsi:type="dcterms:W3CDTF">2024-11-08T04:46:13Z</dcterms:created>
  <dcterms:modified xsi:type="dcterms:W3CDTF">2024-11-08T04:56:47Z</dcterms:modified>
</cp:coreProperties>
</file>