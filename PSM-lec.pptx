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handoutMasterIdLst>
    <p:handoutMasterId r:id="rId35"/>
  </p:handoutMasterIdLst>
  <p:sldIdLst>
    <p:sldId id="256" r:id="rId2"/>
    <p:sldId id="258" r:id="rId3"/>
    <p:sldId id="310" r:id="rId4"/>
    <p:sldId id="312" r:id="rId5"/>
    <p:sldId id="313" r:id="rId6"/>
    <p:sldId id="311" r:id="rId7"/>
    <p:sldId id="314" r:id="rId8"/>
    <p:sldId id="315" r:id="rId9"/>
    <p:sldId id="277" r:id="rId10"/>
    <p:sldId id="269" r:id="rId11"/>
    <p:sldId id="323" r:id="rId12"/>
    <p:sldId id="317" r:id="rId13"/>
    <p:sldId id="320" r:id="rId14"/>
    <p:sldId id="321" r:id="rId15"/>
    <p:sldId id="322" r:id="rId16"/>
    <p:sldId id="293" r:id="rId17"/>
    <p:sldId id="292" r:id="rId18"/>
    <p:sldId id="294" r:id="rId19"/>
    <p:sldId id="280" r:id="rId20"/>
    <p:sldId id="286" r:id="rId21"/>
    <p:sldId id="287" r:id="rId22"/>
    <p:sldId id="324" r:id="rId23"/>
    <p:sldId id="299" r:id="rId24"/>
    <p:sldId id="300" r:id="rId25"/>
    <p:sldId id="328" r:id="rId26"/>
    <p:sldId id="329" r:id="rId27"/>
    <p:sldId id="305" r:id="rId28"/>
    <p:sldId id="325" r:id="rId29"/>
    <p:sldId id="306" r:id="rId30"/>
    <p:sldId id="326" r:id="rId31"/>
    <p:sldId id="327" r:id="rId32"/>
    <p:sldId id="307" r:id="rId33"/>
  </p:sldIdLst>
  <p:sldSz cx="12192000" cy="6858000"/>
  <p:notesSz cx="6858000" cy="9144000"/>
  <p:defaultTextStyle>
    <a:defPPr>
      <a:defRPr lang="ms-MY"/>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6C18DC-8A98-4DD2-9572-770F724705F4}" type="doc">
      <dgm:prSet loTypeId="urn:microsoft.com/office/officeart/2005/8/layout/radial1" loCatId="cycle" qsTypeId="urn:microsoft.com/office/officeart/2005/8/quickstyle/simple1" qsCatId="simple" csTypeId="urn:microsoft.com/office/officeart/2005/8/colors/colorful5" csCatId="colorful" phldr="1"/>
      <dgm:spPr/>
      <dgm:t>
        <a:bodyPr/>
        <a:lstStyle/>
        <a:p>
          <a:endParaRPr lang="en-US"/>
        </a:p>
      </dgm:t>
    </dgm:pt>
    <dgm:pt modelId="{54CF4E5E-D326-40B2-B426-7B2CB8161931}">
      <dgm:prSet phldrT="[Text]" custT="1"/>
      <dgm:spPr/>
      <dgm:t>
        <a:bodyPr/>
        <a:lstStyle/>
        <a:p>
          <a:pPr>
            <a:spcAft>
              <a:spcPts val="600"/>
            </a:spcAft>
          </a:pPr>
          <a:r>
            <a:rPr lang="en-US" sz="2800" b="0" dirty="0" smtClean="0"/>
            <a:t>WHERE?</a:t>
          </a:r>
        </a:p>
        <a:p>
          <a:pPr>
            <a:spcAft>
              <a:spcPct val="35000"/>
            </a:spcAft>
          </a:pPr>
          <a:r>
            <a:rPr lang="en-US" sz="2200" b="0" dirty="0" smtClean="0"/>
            <a:t>to look for Problem statement</a:t>
          </a:r>
        </a:p>
      </dgm:t>
    </dgm:pt>
    <dgm:pt modelId="{5CA32610-D08A-4D2F-9D75-DACD264E6731}" type="parTrans" cxnId="{5CD855E9-E64E-45DC-90E7-CFF4EA3D64B9}">
      <dgm:prSet/>
      <dgm:spPr/>
      <dgm:t>
        <a:bodyPr/>
        <a:lstStyle/>
        <a:p>
          <a:endParaRPr lang="en-US" sz="2000" b="0"/>
        </a:p>
      </dgm:t>
    </dgm:pt>
    <dgm:pt modelId="{57B62997-DA36-4CF0-A28C-F9C4F6B572C4}" type="sibTrans" cxnId="{5CD855E9-E64E-45DC-90E7-CFF4EA3D64B9}">
      <dgm:prSet/>
      <dgm:spPr/>
      <dgm:t>
        <a:bodyPr/>
        <a:lstStyle/>
        <a:p>
          <a:endParaRPr lang="en-US" sz="2000" b="0"/>
        </a:p>
      </dgm:t>
    </dgm:pt>
    <dgm:pt modelId="{C4BC6E6F-5329-45CF-AAC9-E4B18478752C}">
      <dgm:prSet phldrT="[Text]" custT="1"/>
      <dgm:spPr/>
      <dgm:t>
        <a:bodyPr/>
        <a:lstStyle/>
        <a:p>
          <a:r>
            <a:rPr lang="en-US" sz="1200" b="0" dirty="0" smtClean="0"/>
            <a:t>Consultation with expert</a:t>
          </a:r>
          <a:endParaRPr lang="en-US" sz="1200" b="0" dirty="0"/>
        </a:p>
      </dgm:t>
    </dgm:pt>
    <dgm:pt modelId="{A865C6E5-45C2-45B4-BA86-5F397BFEB6C1}" type="parTrans" cxnId="{E1DF7C78-0EDA-4EA9-A68D-8DFC0E467F90}">
      <dgm:prSet custT="1"/>
      <dgm:spPr/>
      <dgm:t>
        <a:bodyPr/>
        <a:lstStyle/>
        <a:p>
          <a:endParaRPr lang="en-US" sz="2000" b="0"/>
        </a:p>
      </dgm:t>
    </dgm:pt>
    <dgm:pt modelId="{8279F91E-6093-4F12-947C-A4A5F8D55A27}" type="sibTrans" cxnId="{E1DF7C78-0EDA-4EA9-A68D-8DFC0E467F90}">
      <dgm:prSet/>
      <dgm:spPr/>
      <dgm:t>
        <a:bodyPr/>
        <a:lstStyle/>
        <a:p>
          <a:endParaRPr lang="en-US" sz="2000" b="0"/>
        </a:p>
      </dgm:t>
    </dgm:pt>
    <dgm:pt modelId="{FDA4DD17-334D-4F15-9730-DC5C545E8C06}">
      <dgm:prSet phldrT="[Text]" custT="1"/>
      <dgm:spPr/>
      <dgm:t>
        <a:bodyPr/>
        <a:lstStyle/>
        <a:p>
          <a:r>
            <a:rPr lang="en-US" sz="1200" b="0" dirty="0" smtClean="0"/>
            <a:t>Brainstorming/Informal discussion</a:t>
          </a:r>
          <a:endParaRPr lang="en-US" sz="1200" b="0" dirty="0"/>
        </a:p>
      </dgm:t>
    </dgm:pt>
    <dgm:pt modelId="{107156DF-59AC-4357-AAD3-0754D4851769}" type="parTrans" cxnId="{B78BEA92-EB3A-41A3-BDA3-0F1C81AB61A8}">
      <dgm:prSet custT="1"/>
      <dgm:spPr/>
      <dgm:t>
        <a:bodyPr/>
        <a:lstStyle/>
        <a:p>
          <a:endParaRPr lang="en-US" sz="2000" b="0"/>
        </a:p>
      </dgm:t>
    </dgm:pt>
    <dgm:pt modelId="{229EF8D7-59F3-4E66-B80F-F9C5E13EA7BB}" type="sibTrans" cxnId="{B78BEA92-EB3A-41A3-BDA3-0F1C81AB61A8}">
      <dgm:prSet/>
      <dgm:spPr/>
      <dgm:t>
        <a:bodyPr/>
        <a:lstStyle/>
        <a:p>
          <a:endParaRPr lang="en-US" sz="2000" b="0"/>
        </a:p>
      </dgm:t>
    </dgm:pt>
    <dgm:pt modelId="{AA301625-22F9-4306-89ED-82D61096C066}">
      <dgm:prSet phldrT="[Text]" custT="1"/>
      <dgm:spPr/>
      <dgm:t>
        <a:bodyPr/>
        <a:lstStyle/>
        <a:p>
          <a:r>
            <a:rPr lang="en-US" sz="1200" b="0" dirty="0" smtClean="0"/>
            <a:t>Critical Appraisal of Literature</a:t>
          </a:r>
          <a:endParaRPr lang="en-US" sz="1200" b="0" dirty="0"/>
        </a:p>
      </dgm:t>
    </dgm:pt>
    <dgm:pt modelId="{879D407F-827F-4F20-8EF4-43DBC9AFEF18}" type="parTrans" cxnId="{AEEF6840-7D9F-46F0-8524-DF223D4BD3CD}">
      <dgm:prSet custT="1"/>
      <dgm:spPr/>
      <dgm:t>
        <a:bodyPr/>
        <a:lstStyle/>
        <a:p>
          <a:endParaRPr lang="en-US" sz="2000" b="0"/>
        </a:p>
      </dgm:t>
    </dgm:pt>
    <dgm:pt modelId="{7644CDB3-2DAE-477B-B5B0-0EBF491E3EF5}" type="sibTrans" cxnId="{AEEF6840-7D9F-46F0-8524-DF223D4BD3CD}">
      <dgm:prSet/>
      <dgm:spPr/>
      <dgm:t>
        <a:bodyPr/>
        <a:lstStyle/>
        <a:p>
          <a:endParaRPr lang="en-US" sz="2000" b="0"/>
        </a:p>
      </dgm:t>
    </dgm:pt>
    <dgm:pt modelId="{A3C2CD81-B116-4615-B5D2-19A7A2C029AE}">
      <dgm:prSet phldrT="[Text]" custT="1"/>
      <dgm:spPr/>
      <dgm:t>
        <a:bodyPr/>
        <a:lstStyle/>
        <a:p>
          <a:r>
            <a:rPr lang="en-US" sz="1200" b="0" dirty="0" smtClean="0"/>
            <a:t>Intuition</a:t>
          </a:r>
          <a:endParaRPr lang="en-US" sz="1200" b="0" dirty="0"/>
        </a:p>
      </dgm:t>
    </dgm:pt>
    <dgm:pt modelId="{9256A425-51EA-4AF3-BFC0-E35F5BEDBD73}" type="parTrans" cxnId="{7A0ABBE8-9BDB-4562-B801-9946203DEAC6}">
      <dgm:prSet custT="1"/>
      <dgm:spPr/>
      <dgm:t>
        <a:bodyPr/>
        <a:lstStyle/>
        <a:p>
          <a:endParaRPr lang="en-US" sz="2000" b="0"/>
        </a:p>
      </dgm:t>
    </dgm:pt>
    <dgm:pt modelId="{E6D9DF2B-F4C5-436D-849E-6B3D4C2F08F1}" type="sibTrans" cxnId="{7A0ABBE8-9BDB-4562-B801-9946203DEAC6}">
      <dgm:prSet/>
      <dgm:spPr/>
      <dgm:t>
        <a:bodyPr/>
        <a:lstStyle/>
        <a:p>
          <a:endParaRPr lang="en-US" sz="2000" b="0"/>
        </a:p>
      </dgm:t>
    </dgm:pt>
    <dgm:pt modelId="{CB34A822-8A9C-470D-AC3D-668260E7DC08}">
      <dgm:prSet phldrT="[Text]" custT="1"/>
      <dgm:spPr/>
      <dgm:t>
        <a:bodyPr/>
        <a:lstStyle/>
        <a:p>
          <a:r>
            <a:rPr lang="en-US" sz="1200" b="0" dirty="0" smtClean="0"/>
            <a:t>Folklores</a:t>
          </a:r>
          <a:endParaRPr lang="en-US" sz="1200" b="0" dirty="0"/>
        </a:p>
      </dgm:t>
    </dgm:pt>
    <dgm:pt modelId="{3CCF8784-D0F9-40F0-B404-D42A33E34247}" type="parTrans" cxnId="{0D520CFA-7AF7-442D-A99F-6B52E02B9C25}">
      <dgm:prSet custT="1"/>
      <dgm:spPr/>
      <dgm:t>
        <a:bodyPr/>
        <a:lstStyle/>
        <a:p>
          <a:endParaRPr lang="en-US" sz="2000" b="0"/>
        </a:p>
      </dgm:t>
    </dgm:pt>
    <dgm:pt modelId="{1D7E2EC6-58C5-4D8E-BDAF-99BCF061D36B}" type="sibTrans" cxnId="{0D520CFA-7AF7-442D-A99F-6B52E02B9C25}">
      <dgm:prSet/>
      <dgm:spPr/>
      <dgm:t>
        <a:bodyPr/>
        <a:lstStyle/>
        <a:p>
          <a:endParaRPr lang="en-US" sz="2000" b="0"/>
        </a:p>
      </dgm:t>
    </dgm:pt>
    <dgm:pt modelId="{E84DFDD5-EFB7-4296-B900-E48A21073456}">
      <dgm:prSet phldrT="[Text]" custT="1"/>
      <dgm:spPr/>
      <dgm:t>
        <a:bodyPr/>
        <a:lstStyle/>
        <a:p>
          <a:r>
            <a:rPr lang="en-US" sz="1200" b="0" dirty="0" smtClean="0"/>
            <a:t>Personal Experience</a:t>
          </a:r>
          <a:endParaRPr lang="en-US" sz="1200" b="0" dirty="0"/>
        </a:p>
      </dgm:t>
    </dgm:pt>
    <dgm:pt modelId="{A609A947-C835-4764-B350-A680A2986E56}" type="parTrans" cxnId="{9B7764C6-46EF-40EE-B4F3-E7A9CE50BF60}">
      <dgm:prSet custT="1"/>
      <dgm:spPr/>
      <dgm:t>
        <a:bodyPr/>
        <a:lstStyle/>
        <a:p>
          <a:endParaRPr lang="en-US" sz="400" b="0"/>
        </a:p>
      </dgm:t>
    </dgm:pt>
    <dgm:pt modelId="{BFA1BF9F-F227-4A4A-A4DC-256FBC2C720D}" type="sibTrans" cxnId="{9B7764C6-46EF-40EE-B4F3-E7A9CE50BF60}">
      <dgm:prSet/>
      <dgm:spPr/>
      <dgm:t>
        <a:bodyPr/>
        <a:lstStyle/>
        <a:p>
          <a:endParaRPr lang="en-US" sz="1600" b="0"/>
        </a:p>
      </dgm:t>
    </dgm:pt>
    <dgm:pt modelId="{7BEBF7D8-56F9-4758-A1DF-04C53600BE97}">
      <dgm:prSet phldrT="[Text]" custT="1"/>
      <dgm:spPr/>
      <dgm:t>
        <a:bodyPr/>
        <a:lstStyle/>
        <a:p>
          <a:r>
            <a:rPr lang="en-US" sz="1200" b="0" dirty="0" smtClean="0"/>
            <a:t>Practical Experience</a:t>
          </a:r>
          <a:endParaRPr lang="en-US" sz="1200" b="0" dirty="0"/>
        </a:p>
      </dgm:t>
    </dgm:pt>
    <dgm:pt modelId="{FC759379-B975-413F-A0CC-98449D04E44B}" type="parTrans" cxnId="{7533DAF7-A96E-43AA-932B-7BECC88CC8AC}">
      <dgm:prSet custT="1"/>
      <dgm:spPr/>
      <dgm:t>
        <a:bodyPr/>
        <a:lstStyle/>
        <a:p>
          <a:endParaRPr lang="en-US" sz="400" b="0"/>
        </a:p>
      </dgm:t>
    </dgm:pt>
    <dgm:pt modelId="{5E27224D-E2E3-4A8A-8BF4-BC0192B4267A}" type="sibTrans" cxnId="{7533DAF7-A96E-43AA-932B-7BECC88CC8AC}">
      <dgm:prSet/>
      <dgm:spPr/>
      <dgm:t>
        <a:bodyPr/>
        <a:lstStyle/>
        <a:p>
          <a:endParaRPr lang="en-US" sz="1600" b="0"/>
        </a:p>
      </dgm:t>
    </dgm:pt>
    <dgm:pt modelId="{5685C538-2C0A-4930-AF67-969D45048BE9}">
      <dgm:prSet phldrT="[Text]" custT="1"/>
      <dgm:spPr/>
      <dgm:t>
        <a:bodyPr/>
        <a:lstStyle/>
        <a:p>
          <a:r>
            <a:rPr lang="en-US" sz="1200" b="0" dirty="0" smtClean="0"/>
            <a:t>Previous Research</a:t>
          </a:r>
          <a:endParaRPr lang="en-US" sz="1200" b="0" dirty="0"/>
        </a:p>
      </dgm:t>
    </dgm:pt>
    <dgm:pt modelId="{64DA73B4-EF26-4589-9A3C-9955ABB44AAA}" type="parTrans" cxnId="{640EBEF8-FCA6-41DA-9D60-4414E0D1F826}">
      <dgm:prSet custT="1"/>
      <dgm:spPr/>
      <dgm:t>
        <a:bodyPr/>
        <a:lstStyle/>
        <a:p>
          <a:endParaRPr lang="en-US" sz="400" b="0"/>
        </a:p>
      </dgm:t>
    </dgm:pt>
    <dgm:pt modelId="{27A51A45-283C-460B-883F-5CE5D5FC1D39}" type="sibTrans" cxnId="{640EBEF8-FCA6-41DA-9D60-4414E0D1F826}">
      <dgm:prSet/>
      <dgm:spPr/>
      <dgm:t>
        <a:bodyPr/>
        <a:lstStyle/>
        <a:p>
          <a:endParaRPr lang="en-US" sz="1600" b="0"/>
        </a:p>
      </dgm:t>
    </dgm:pt>
    <dgm:pt modelId="{7C53BB4C-4782-4CC8-AA94-4BDA3DFEBF71}">
      <dgm:prSet phldrT="[Text]" custT="1"/>
      <dgm:spPr/>
      <dgm:t>
        <a:bodyPr/>
        <a:lstStyle/>
        <a:p>
          <a:r>
            <a:rPr lang="en-US" sz="1200" b="0" dirty="0" smtClean="0"/>
            <a:t>Existing theories</a:t>
          </a:r>
          <a:endParaRPr lang="en-US" sz="1200" b="0" dirty="0"/>
        </a:p>
      </dgm:t>
    </dgm:pt>
    <dgm:pt modelId="{95E8084F-D6BA-4642-8D72-F4109D0AB434}" type="parTrans" cxnId="{88EC1DC3-5C58-4057-B278-BB0F47365B48}">
      <dgm:prSet custT="1"/>
      <dgm:spPr/>
      <dgm:t>
        <a:bodyPr/>
        <a:lstStyle/>
        <a:p>
          <a:endParaRPr lang="en-US" sz="400" b="0"/>
        </a:p>
      </dgm:t>
    </dgm:pt>
    <dgm:pt modelId="{0850C562-7BE6-4DF0-AADE-43DEE0FACEDB}" type="sibTrans" cxnId="{88EC1DC3-5C58-4057-B278-BB0F47365B48}">
      <dgm:prSet/>
      <dgm:spPr/>
      <dgm:t>
        <a:bodyPr/>
        <a:lstStyle/>
        <a:p>
          <a:endParaRPr lang="en-US" sz="1600" b="0"/>
        </a:p>
      </dgm:t>
    </dgm:pt>
    <dgm:pt modelId="{42E0E249-C1D5-4157-943F-442788D93B51}">
      <dgm:prSet phldrT="[Text]" custT="1"/>
      <dgm:spPr/>
      <dgm:t>
        <a:bodyPr/>
        <a:lstStyle/>
        <a:p>
          <a:r>
            <a:rPr lang="en-US" sz="1200" b="0" dirty="0" smtClean="0"/>
            <a:t>Expose to field situation</a:t>
          </a:r>
          <a:endParaRPr lang="en-US" sz="1200" b="0" dirty="0"/>
        </a:p>
      </dgm:t>
    </dgm:pt>
    <dgm:pt modelId="{B60F2126-7A82-4682-9456-AC9745595B75}" type="parTrans" cxnId="{0E9983C7-A9E9-46ED-A6FB-218F471CFB2D}">
      <dgm:prSet custT="1"/>
      <dgm:spPr/>
      <dgm:t>
        <a:bodyPr/>
        <a:lstStyle/>
        <a:p>
          <a:endParaRPr lang="en-US" sz="400" b="0"/>
        </a:p>
      </dgm:t>
    </dgm:pt>
    <dgm:pt modelId="{CE0A7BC5-79EC-4AD7-A12C-E389A81E3A54}" type="sibTrans" cxnId="{0E9983C7-A9E9-46ED-A6FB-218F471CFB2D}">
      <dgm:prSet/>
      <dgm:spPr/>
      <dgm:t>
        <a:bodyPr/>
        <a:lstStyle/>
        <a:p>
          <a:endParaRPr lang="en-US" sz="1600" b="0"/>
        </a:p>
      </dgm:t>
    </dgm:pt>
    <dgm:pt modelId="{2F1AA8C3-E7EB-4748-8A6A-A3024335794B}" type="pres">
      <dgm:prSet presAssocID="{F86C18DC-8A98-4DD2-9572-770F724705F4}" presName="cycle" presStyleCnt="0">
        <dgm:presLayoutVars>
          <dgm:chMax val="1"/>
          <dgm:dir/>
          <dgm:animLvl val="ctr"/>
          <dgm:resizeHandles val="exact"/>
        </dgm:presLayoutVars>
      </dgm:prSet>
      <dgm:spPr/>
      <dgm:t>
        <a:bodyPr/>
        <a:lstStyle/>
        <a:p>
          <a:endParaRPr lang="en-US"/>
        </a:p>
      </dgm:t>
    </dgm:pt>
    <dgm:pt modelId="{08FCA6FE-6F48-4AE9-822F-54EC65B70429}" type="pres">
      <dgm:prSet presAssocID="{54CF4E5E-D326-40B2-B426-7B2CB8161931}" presName="centerShape" presStyleLbl="node0" presStyleIdx="0" presStyleCnt="1" custScaleX="186051" custScaleY="183121"/>
      <dgm:spPr/>
      <dgm:t>
        <a:bodyPr/>
        <a:lstStyle/>
        <a:p>
          <a:endParaRPr lang="en-US"/>
        </a:p>
      </dgm:t>
    </dgm:pt>
    <dgm:pt modelId="{F46EA65D-27DB-4F81-B96D-34F9CAD07B24}" type="pres">
      <dgm:prSet presAssocID="{A865C6E5-45C2-45B4-BA86-5F397BFEB6C1}" presName="Name9" presStyleLbl="parChTrans1D2" presStyleIdx="0" presStyleCnt="10"/>
      <dgm:spPr/>
      <dgm:t>
        <a:bodyPr/>
        <a:lstStyle/>
        <a:p>
          <a:endParaRPr lang="en-US"/>
        </a:p>
      </dgm:t>
    </dgm:pt>
    <dgm:pt modelId="{96129D44-63E0-4AAD-96E6-585BC72D6D8F}" type="pres">
      <dgm:prSet presAssocID="{A865C6E5-45C2-45B4-BA86-5F397BFEB6C1}" presName="connTx" presStyleLbl="parChTrans1D2" presStyleIdx="0" presStyleCnt="10"/>
      <dgm:spPr/>
      <dgm:t>
        <a:bodyPr/>
        <a:lstStyle/>
        <a:p>
          <a:endParaRPr lang="en-US"/>
        </a:p>
      </dgm:t>
    </dgm:pt>
    <dgm:pt modelId="{6BAF031A-25AA-4CEC-B36A-226AF0FA7609}" type="pres">
      <dgm:prSet presAssocID="{C4BC6E6F-5329-45CF-AAC9-E4B18478752C}" presName="node" presStyleLbl="node1" presStyleIdx="0" presStyleCnt="10">
        <dgm:presLayoutVars>
          <dgm:bulletEnabled val="1"/>
        </dgm:presLayoutVars>
      </dgm:prSet>
      <dgm:spPr/>
      <dgm:t>
        <a:bodyPr/>
        <a:lstStyle/>
        <a:p>
          <a:endParaRPr lang="en-US"/>
        </a:p>
      </dgm:t>
    </dgm:pt>
    <dgm:pt modelId="{9250B49F-4707-4E21-BED6-3EBD6476D8A4}" type="pres">
      <dgm:prSet presAssocID="{A609A947-C835-4764-B350-A680A2986E56}" presName="Name9" presStyleLbl="parChTrans1D2" presStyleIdx="1" presStyleCnt="10"/>
      <dgm:spPr/>
      <dgm:t>
        <a:bodyPr/>
        <a:lstStyle/>
        <a:p>
          <a:endParaRPr lang="en-US"/>
        </a:p>
      </dgm:t>
    </dgm:pt>
    <dgm:pt modelId="{B3E2215D-517C-44AC-B3D7-982623711D98}" type="pres">
      <dgm:prSet presAssocID="{A609A947-C835-4764-B350-A680A2986E56}" presName="connTx" presStyleLbl="parChTrans1D2" presStyleIdx="1" presStyleCnt="10"/>
      <dgm:spPr/>
      <dgm:t>
        <a:bodyPr/>
        <a:lstStyle/>
        <a:p>
          <a:endParaRPr lang="en-US"/>
        </a:p>
      </dgm:t>
    </dgm:pt>
    <dgm:pt modelId="{A45577C4-9607-41AF-892D-9ABBCE2BF7B2}" type="pres">
      <dgm:prSet presAssocID="{E84DFDD5-EFB7-4296-B900-E48A21073456}" presName="node" presStyleLbl="node1" presStyleIdx="1" presStyleCnt="10">
        <dgm:presLayoutVars>
          <dgm:bulletEnabled val="1"/>
        </dgm:presLayoutVars>
      </dgm:prSet>
      <dgm:spPr/>
      <dgm:t>
        <a:bodyPr/>
        <a:lstStyle/>
        <a:p>
          <a:endParaRPr lang="en-US"/>
        </a:p>
      </dgm:t>
    </dgm:pt>
    <dgm:pt modelId="{EF6CAE2C-31B5-4B45-ABBB-E91E088EDFD9}" type="pres">
      <dgm:prSet presAssocID="{FC759379-B975-413F-A0CC-98449D04E44B}" presName="Name9" presStyleLbl="parChTrans1D2" presStyleIdx="2" presStyleCnt="10"/>
      <dgm:spPr/>
      <dgm:t>
        <a:bodyPr/>
        <a:lstStyle/>
        <a:p>
          <a:endParaRPr lang="en-US"/>
        </a:p>
      </dgm:t>
    </dgm:pt>
    <dgm:pt modelId="{28ECF745-1E97-4C27-856D-A5FB8F85E34B}" type="pres">
      <dgm:prSet presAssocID="{FC759379-B975-413F-A0CC-98449D04E44B}" presName="connTx" presStyleLbl="parChTrans1D2" presStyleIdx="2" presStyleCnt="10"/>
      <dgm:spPr/>
      <dgm:t>
        <a:bodyPr/>
        <a:lstStyle/>
        <a:p>
          <a:endParaRPr lang="en-US"/>
        </a:p>
      </dgm:t>
    </dgm:pt>
    <dgm:pt modelId="{778B7A07-6682-4409-8816-A36EAF95FDBA}" type="pres">
      <dgm:prSet presAssocID="{7BEBF7D8-56F9-4758-A1DF-04C53600BE97}" presName="node" presStyleLbl="node1" presStyleIdx="2" presStyleCnt="10">
        <dgm:presLayoutVars>
          <dgm:bulletEnabled val="1"/>
        </dgm:presLayoutVars>
      </dgm:prSet>
      <dgm:spPr/>
      <dgm:t>
        <a:bodyPr/>
        <a:lstStyle/>
        <a:p>
          <a:endParaRPr lang="en-US"/>
        </a:p>
      </dgm:t>
    </dgm:pt>
    <dgm:pt modelId="{56BE2FE0-778D-493C-8B03-FFD71BEA8C6B}" type="pres">
      <dgm:prSet presAssocID="{64DA73B4-EF26-4589-9A3C-9955ABB44AAA}" presName="Name9" presStyleLbl="parChTrans1D2" presStyleIdx="3" presStyleCnt="10"/>
      <dgm:spPr/>
      <dgm:t>
        <a:bodyPr/>
        <a:lstStyle/>
        <a:p>
          <a:endParaRPr lang="en-US"/>
        </a:p>
      </dgm:t>
    </dgm:pt>
    <dgm:pt modelId="{914D9877-BBA7-49B6-A35C-BA336483C479}" type="pres">
      <dgm:prSet presAssocID="{64DA73B4-EF26-4589-9A3C-9955ABB44AAA}" presName="connTx" presStyleLbl="parChTrans1D2" presStyleIdx="3" presStyleCnt="10"/>
      <dgm:spPr/>
      <dgm:t>
        <a:bodyPr/>
        <a:lstStyle/>
        <a:p>
          <a:endParaRPr lang="en-US"/>
        </a:p>
      </dgm:t>
    </dgm:pt>
    <dgm:pt modelId="{7BF7CA50-B620-47A7-BB55-1448D5922E0E}" type="pres">
      <dgm:prSet presAssocID="{5685C538-2C0A-4930-AF67-969D45048BE9}" presName="node" presStyleLbl="node1" presStyleIdx="3" presStyleCnt="10">
        <dgm:presLayoutVars>
          <dgm:bulletEnabled val="1"/>
        </dgm:presLayoutVars>
      </dgm:prSet>
      <dgm:spPr/>
      <dgm:t>
        <a:bodyPr/>
        <a:lstStyle/>
        <a:p>
          <a:endParaRPr lang="en-US"/>
        </a:p>
      </dgm:t>
    </dgm:pt>
    <dgm:pt modelId="{1EC01EAD-4F14-4713-A851-74BECC090B64}" type="pres">
      <dgm:prSet presAssocID="{95E8084F-D6BA-4642-8D72-F4109D0AB434}" presName="Name9" presStyleLbl="parChTrans1D2" presStyleIdx="4" presStyleCnt="10"/>
      <dgm:spPr/>
      <dgm:t>
        <a:bodyPr/>
        <a:lstStyle/>
        <a:p>
          <a:endParaRPr lang="en-US"/>
        </a:p>
      </dgm:t>
    </dgm:pt>
    <dgm:pt modelId="{BE913FED-29CC-4125-A2A3-9812B4FD4533}" type="pres">
      <dgm:prSet presAssocID="{95E8084F-D6BA-4642-8D72-F4109D0AB434}" presName="connTx" presStyleLbl="parChTrans1D2" presStyleIdx="4" presStyleCnt="10"/>
      <dgm:spPr/>
      <dgm:t>
        <a:bodyPr/>
        <a:lstStyle/>
        <a:p>
          <a:endParaRPr lang="en-US"/>
        </a:p>
      </dgm:t>
    </dgm:pt>
    <dgm:pt modelId="{73A87D89-5EC6-4131-AD3F-3B6E40958738}" type="pres">
      <dgm:prSet presAssocID="{7C53BB4C-4782-4CC8-AA94-4BDA3DFEBF71}" presName="node" presStyleLbl="node1" presStyleIdx="4" presStyleCnt="10">
        <dgm:presLayoutVars>
          <dgm:bulletEnabled val="1"/>
        </dgm:presLayoutVars>
      </dgm:prSet>
      <dgm:spPr/>
      <dgm:t>
        <a:bodyPr/>
        <a:lstStyle/>
        <a:p>
          <a:endParaRPr lang="en-US"/>
        </a:p>
      </dgm:t>
    </dgm:pt>
    <dgm:pt modelId="{6AC906C4-8704-4F2C-958C-CE74AB4D24C0}" type="pres">
      <dgm:prSet presAssocID="{107156DF-59AC-4357-AAD3-0754D4851769}" presName="Name9" presStyleLbl="parChTrans1D2" presStyleIdx="5" presStyleCnt="10"/>
      <dgm:spPr/>
      <dgm:t>
        <a:bodyPr/>
        <a:lstStyle/>
        <a:p>
          <a:endParaRPr lang="en-US"/>
        </a:p>
      </dgm:t>
    </dgm:pt>
    <dgm:pt modelId="{7D10ADD6-0BBF-48F1-8B0F-010E401526E2}" type="pres">
      <dgm:prSet presAssocID="{107156DF-59AC-4357-AAD3-0754D4851769}" presName="connTx" presStyleLbl="parChTrans1D2" presStyleIdx="5" presStyleCnt="10"/>
      <dgm:spPr/>
      <dgm:t>
        <a:bodyPr/>
        <a:lstStyle/>
        <a:p>
          <a:endParaRPr lang="en-US"/>
        </a:p>
      </dgm:t>
    </dgm:pt>
    <dgm:pt modelId="{CFAAF088-A57F-4AC3-8227-657B43B88A0F}" type="pres">
      <dgm:prSet presAssocID="{FDA4DD17-334D-4F15-9730-DC5C545E8C06}" presName="node" presStyleLbl="node1" presStyleIdx="5" presStyleCnt="10">
        <dgm:presLayoutVars>
          <dgm:bulletEnabled val="1"/>
        </dgm:presLayoutVars>
      </dgm:prSet>
      <dgm:spPr/>
      <dgm:t>
        <a:bodyPr/>
        <a:lstStyle/>
        <a:p>
          <a:endParaRPr lang="en-US"/>
        </a:p>
      </dgm:t>
    </dgm:pt>
    <dgm:pt modelId="{B027EC0E-F088-4C61-873D-2601A89614A9}" type="pres">
      <dgm:prSet presAssocID="{879D407F-827F-4F20-8EF4-43DBC9AFEF18}" presName="Name9" presStyleLbl="parChTrans1D2" presStyleIdx="6" presStyleCnt="10"/>
      <dgm:spPr/>
      <dgm:t>
        <a:bodyPr/>
        <a:lstStyle/>
        <a:p>
          <a:endParaRPr lang="en-US"/>
        </a:p>
      </dgm:t>
    </dgm:pt>
    <dgm:pt modelId="{6E09D7DE-BC40-4ECD-B5EE-0F24BB236338}" type="pres">
      <dgm:prSet presAssocID="{879D407F-827F-4F20-8EF4-43DBC9AFEF18}" presName="connTx" presStyleLbl="parChTrans1D2" presStyleIdx="6" presStyleCnt="10"/>
      <dgm:spPr/>
      <dgm:t>
        <a:bodyPr/>
        <a:lstStyle/>
        <a:p>
          <a:endParaRPr lang="en-US"/>
        </a:p>
      </dgm:t>
    </dgm:pt>
    <dgm:pt modelId="{CA20D954-99DC-4680-B6A7-60BAFC704BD1}" type="pres">
      <dgm:prSet presAssocID="{AA301625-22F9-4306-89ED-82D61096C066}" presName="node" presStyleLbl="node1" presStyleIdx="6" presStyleCnt="10">
        <dgm:presLayoutVars>
          <dgm:bulletEnabled val="1"/>
        </dgm:presLayoutVars>
      </dgm:prSet>
      <dgm:spPr/>
      <dgm:t>
        <a:bodyPr/>
        <a:lstStyle/>
        <a:p>
          <a:endParaRPr lang="en-US"/>
        </a:p>
      </dgm:t>
    </dgm:pt>
    <dgm:pt modelId="{8530522F-8C7B-43C1-8939-5FD722362600}" type="pres">
      <dgm:prSet presAssocID="{9256A425-51EA-4AF3-BFC0-E35F5BEDBD73}" presName="Name9" presStyleLbl="parChTrans1D2" presStyleIdx="7" presStyleCnt="10"/>
      <dgm:spPr/>
      <dgm:t>
        <a:bodyPr/>
        <a:lstStyle/>
        <a:p>
          <a:endParaRPr lang="en-US"/>
        </a:p>
      </dgm:t>
    </dgm:pt>
    <dgm:pt modelId="{1170430B-A90E-4B4E-B151-35D62935721E}" type="pres">
      <dgm:prSet presAssocID="{9256A425-51EA-4AF3-BFC0-E35F5BEDBD73}" presName="connTx" presStyleLbl="parChTrans1D2" presStyleIdx="7" presStyleCnt="10"/>
      <dgm:spPr/>
      <dgm:t>
        <a:bodyPr/>
        <a:lstStyle/>
        <a:p>
          <a:endParaRPr lang="en-US"/>
        </a:p>
      </dgm:t>
    </dgm:pt>
    <dgm:pt modelId="{863E727C-8D82-4B51-B2A2-3157531506E7}" type="pres">
      <dgm:prSet presAssocID="{A3C2CD81-B116-4615-B5D2-19A7A2C029AE}" presName="node" presStyleLbl="node1" presStyleIdx="7" presStyleCnt="10">
        <dgm:presLayoutVars>
          <dgm:bulletEnabled val="1"/>
        </dgm:presLayoutVars>
      </dgm:prSet>
      <dgm:spPr/>
      <dgm:t>
        <a:bodyPr/>
        <a:lstStyle/>
        <a:p>
          <a:endParaRPr lang="en-US"/>
        </a:p>
      </dgm:t>
    </dgm:pt>
    <dgm:pt modelId="{2BD0563D-7527-46FA-95AB-244440E2FBF7}" type="pres">
      <dgm:prSet presAssocID="{3CCF8784-D0F9-40F0-B404-D42A33E34247}" presName="Name9" presStyleLbl="parChTrans1D2" presStyleIdx="8" presStyleCnt="10"/>
      <dgm:spPr/>
      <dgm:t>
        <a:bodyPr/>
        <a:lstStyle/>
        <a:p>
          <a:endParaRPr lang="en-US"/>
        </a:p>
      </dgm:t>
    </dgm:pt>
    <dgm:pt modelId="{8E7C8D2C-E25E-4C6B-A961-B3B9D8713A81}" type="pres">
      <dgm:prSet presAssocID="{3CCF8784-D0F9-40F0-B404-D42A33E34247}" presName="connTx" presStyleLbl="parChTrans1D2" presStyleIdx="8" presStyleCnt="10"/>
      <dgm:spPr/>
      <dgm:t>
        <a:bodyPr/>
        <a:lstStyle/>
        <a:p>
          <a:endParaRPr lang="en-US"/>
        </a:p>
      </dgm:t>
    </dgm:pt>
    <dgm:pt modelId="{9485358D-E311-4C13-851B-9B772D692338}" type="pres">
      <dgm:prSet presAssocID="{CB34A822-8A9C-470D-AC3D-668260E7DC08}" presName="node" presStyleLbl="node1" presStyleIdx="8" presStyleCnt="10">
        <dgm:presLayoutVars>
          <dgm:bulletEnabled val="1"/>
        </dgm:presLayoutVars>
      </dgm:prSet>
      <dgm:spPr/>
      <dgm:t>
        <a:bodyPr/>
        <a:lstStyle/>
        <a:p>
          <a:endParaRPr lang="en-US"/>
        </a:p>
      </dgm:t>
    </dgm:pt>
    <dgm:pt modelId="{2836CA72-672F-4E89-9B3B-23C788EF5223}" type="pres">
      <dgm:prSet presAssocID="{B60F2126-7A82-4682-9456-AC9745595B75}" presName="Name9" presStyleLbl="parChTrans1D2" presStyleIdx="9" presStyleCnt="10"/>
      <dgm:spPr/>
      <dgm:t>
        <a:bodyPr/>
        <a:lstStyle/>
        <a:p>
          <a:endParaRPr lang="en-US"/>
        </a:p>
      </dgm:t>
    </dgm:pt>
    <dgm:pt modelId="{14211216-4595-4ACD-BBD1-C1B3A8E3CEAA}" type="pres">
      <dgm:prSet presAssocID="{B60F2126-7A82-4682-9456-AC9745595B75}" presName="connTx" presStyleLbl="parChTrans1D2" presStyleIdx="9" presStyleCnt="10"/>
      <dgm:spPr/>
      <dgm:t>
        <a:bodyPr/>
        <a:lstStyle/>
        <a:p>
          <a:endParaRPr lang="en-US"/>
        </a:p>
      </dgm:t>
    </dgm:pt>
    <dgm:pt modelId="{F40A6426-44F5-4388-831D-50162D260B19}" type="pres">
      <dgm:prSet presAssocID="{42E0E249-C1D5-4157-943F-442788D93B51}" presName="node" presStyleLbl="node1" presStyleIdx="9" presStyleCnt="10">
        <dgm:presLayoutVars>
          <dgm:bulletEnabled val="1"/>
        </dgm:presLayoutVars>
      </dgm:prSet>
      <dgm:spPr/>
      <dgm:t>
        <a:bodyPr/>
        <a:lstStyle/>
        <a:p>
          <a:endParaRPr lang="en-US"/>
        </a:p>
      </dgm:t>
    </dgm:pt>
  </dgm:ptLst>
  <dgm:cxnLst>
    <dgm:cxn modelId="{B78BEA92-EB3A-41A3-BDA3-0F1C81AB61A8}" srcId="{54CF4E5E-D326-40B2-B426-7B2CB8161931}" destId="{FDA4DD17-334D-4F15-9730-DC5C545E8C06}" srcOrd="5" destOrd="0" parTransId="{107156DF-59AC-4357-AAD3-0754D4851769}" sibTransId="{229EF8D7-59F3-4E66-B80F-F9C5E13EA7BB}"/>
    <dgm:cxn modelId="{C3F3D8D1-ED45-4325-931C-97F46F54055C}" type="presOf" srcId="{7C53BB4C-4782-4CC8-AA94-4BDA3DFEBF71}" destId="{73A87D89-5EC6-4131-AD3F-3B6E40958738}" srcOrd="0" destOrd="0" presId="urn:microsoft.com/office/officeart/2005/8/layout/radial1"/>
    <dgm:cxn modelId="{813F9ACD-014D-4DA9-ACB3-73A22C2676D9}" type="presOf" srcId="{A3C2CD81-B116-4615-B5D2-19A7A2C029AE}" destId="{863E727C-8D82-4B51-B2A2-3157531506E7}" srcOrd="0" destOrd="0" presId="urn:microsoft.com/office/officeart/2005/8/layout/radial1"/>
    <dgm:cxn modelId="{30380867-3AB9-4DEF-918B-7A7EA17A2EBC}" type="presOf" srcId="{FDA4DD17-334D-4F15-9730-DC5C545E8C06}" destId="{CFAAF088-A57F-4AC3-8227-657B43B88A0F}" srcOrd="0" destOrd="0" presId="urn:microsoft.com/office/officeart/2005/8/layout/radial1"/>
    <dgm:cxn modelId="{C8A097C0-ED8D-4DFE-8B30-9CA333F08402}" type="presOf" srcId="{879D407F-827F-4F20-8EF4-43DBC9AFEF18}" destId="{B027EC0E-F088-4C61-873D-2601A89614A9}" srcOrd="0" destOrd="0" presId="urn:microsoft.com/office/officeart/2005/8/layout/radial1"/>
    <dgm:cxn modelId="{E66E379C-CFF2-41EA-B491-994483D17FD6}" type="presOf" srcId="{B60F2126-7A82-4682-9456-AC9745595B75}" destId="{14211216-4595-4ACD-BBD1-C1B3A8E3CEAA}" srcOrd="1" destOrd="0" presId="urn:microsoft.com/office/officeart/2005/8/layout/radial1"/>
    <dgm:cxn modelId="{AEEF6840-7D9F-46F0-8524-DF223D4BD3CD}" srcId="{54CF4E5E-D326-40B2-B426-7B2CB8161931}" destId="{AA301625-22F9-4306-89ED-82D61096C066}" srcOrd="6" destOrd="0" parTransId="{879D407F-827F-4F20-8EF4-43DBC9AFEF18}" sibTransId="{7644CDB3-2DAE-477B-B5B0-0EBF491E3EF5}"/>
    <dgm:cxn modelId="{5FD514B5-A64A-4F62-8AD1-4F824AE4AD09}" type="presOf" srcId="{FC759379-B975-413F-A0CC-98449D04E44B}" destId="{28ECF745-1E97-4C27-856D-A5FB8F85E34B}" srcOrd="1" destOrd="0" presId="urn:microsoft.com/office/officeart/2005/8/layout/radial1"/>
    <dgm:cxn modelId="{F82C3571-140F-422E-9273-F41AB0179C70}" type="presOf" srcId="{A609A947-C835-4764-B350-A680A2986E56}" destId="{9250B49F-4707-4E21-BED6-3EBD6476D8A4}" srcOrd="0" destOrd="0" presId="urn:microsoft.com/office/officeart/2005/8/layout/radial1"/>
    <dgm:cxn modelId="{0B64155C-9406-45B6-92F6-F8C8A59385A2}" type="presOf" srcId="{107156DF-59AC-4357-AAD3-0754D4851769}" destId="{7D10ADD6-0BBF-48F1-8B0F-010E401526E2}" srcOrd="1" destOrd="0" presId="urn:microsoft.com/office/officeart/2005/8/layout/radial1"/>
    <dgm:cxn modelId="{818981D4-8A6A-40DF-AA05-6A382CEC45CE}" type="presOf" srcId="{C4BC6E6F-5329-45CF-AAC9-E4B18478752C}" destId="{6BAF031A-25AA-4CEC-B36A-226AF0FA7609}" srcOrd="0" destOrd="0" presId="urn:microsoft.com/office/officeart/2005/8/layout/radial1"/>
    <dgm:cxn modelId="{0D520CFA-7AF7-442D-A99F-6B52E02B9C25}" srcId="{54CF4E5E-D326-40B2-B426-7B2CB8161931}" destId="{CB34A822-8A9C-470D-AC3D-668260E7DC08}" srcOrd="8" destOrd="0" parTransId="{3CCF8784-D0F9-40F0-B404-D42A33E34247}" sibTransId="{1D7E2EC6-58C5-4D8E-BDAF-99BCF061D36B}"/>
    <dgm:cxn modelId="{EA75F7ED-0DD4-4BE1-94FA-C78C896FB834}" type="presOf" srcId="{9256A425-51EA-4AF3-BFC0-E35F5BEDBD73}" destId="{8530522F-8C7B-43C1-8939-5FD722362600}" srcOrd="0" destOrd="0" presId="urn:microsoft.com/office/officeart/2005/8/layout/radial1"/>
    <dgm:cxn modelId="{DBB0B11B-3BD6-4E6A-9403-0B809FCA801F}" type="presOf" srcId="{95E8084F-D6BA-4642-8D72-F4109D0AB434}" destId="{1EC01EAD-4F14-4713-A851-74BECC090B64}" srcOrd="0" destOrd="0" presId="urn:microsoft.com/office/officeart/2005/8/layout/radial1"/>
    <dgm:cxn modelId="{5CD855E9-E64E-45DC-90E7-CFF4EA3D64B9}" srcId="{F86C18DC-8A98-4DD2-9572-770F724705F4}" destId="{54CF4E5E-D326-40B2-B426-7B2CB8161931}" srcOrd="0" destOrd="0" parTransId="{5CA32610-D08A-4D2F-9D75-DACD264E6731}" sibTransId="{57B62997-DA36-4CF0-A28C-F9C4F6B572C4}"/>
    <dgm:cxn modelId="{2D75372B-2A7A-4852-8349-82AEA05BFC09}" type="presOf" srcId="{A609A947-C835-4764-B350-A680A2986E56}" destId="{B3E2215D-517C-44AC-B3D7-982623711D98}" srcOrd="1" destOrd="0" presId="urn:microsoft.com/office/officeart/2005/8/layout/radial1"/>
    <dgm:cxn modelId="{0E9983C7-A9E9-46ED-A6FB-218F471CFB2D}" srcId="{54CF4E5E-D326-40B2-B426-7B2CB8161931}" destId="{42E0E249-C1D5-4157-943F-442788D93B51}" srcOrd="9" destOrd="0" parTransId="{B60F2126-7A82-4682-9456-AC9745595B75}" sibTransId="{CE0A7BC5-79EC-4AD7-A12C-E389A81E3A54}"/>
    <dgm:cxn modelId="{C7C8D7D5-D223-410F-A0D2-F0BF062C5454}" type="presOf" srcId="{7BEBF7D8-56F9-4758-A1DF-04C53600BE97}" destId="{778B7A07-6682-4409-8816-A36EAF95FDBA}" srcOrd="0" destOrd="0" presId="urn:microsoft.com/office/officeart/2005/8/layout/radial1"/>
    <dgm:cxn modelId="{0C48A1F5-A9BF-4B48-B8D7-513470B83C70}" type="presOf" srcId="{FC759379-B975-413F-A0CC-98449D04E44B}" destId="{EF6CAE2C-31B5-4B45-ABBB-E91E088EDFD9}" srcOrd="0" destOrd="0" presId="urn:microsoft.com/office/officeart/2005/8/layout/radial1"/>
    <dgm:cxn modelId="{A23B6ED4-B036-4527-B1EE-04501C2A5555}" type="presOf" srcId="{E84DFDD5-EFB7-4296-B900-E48A21073456}" destId="{A45577C4-9607-41AF-892D-9ABBCE2BF7B2}" srcOrd="0" destOrd="0" presId="urn:microsoft.com/office/officeart/2005/8/layout/radial1"/>
    <dgm:cxn modelId="{237BB085-AFE6-4C3E-A9D1-8C60A193FB80}" type="presOf" srcId="{F86C18DC-8A98-4DD2-9572-770F724705F4}" destId="{2F1AA8C3-E7EB-4748-8A6A-A3024335794B}" srcOrd="0" destOrd="0" presId="urn:microsoft.com/office/officeart/2005/8/layout/radial1"/>
    <dgm:cxn modelId="{9B45422B-88C5-463F-B9E6-D1CC41FA0CA9}" type="presOf" srcId="{9256A425-51EA-4AF3-BFC0-E35F5BEDBD73}" destId="{1170430B-A90E-4B4E-B151-35D62935721E}" srcOrd="1" destOrd="0" presId="urn:microsoft.com/office/officeart/2005/8/layout/radial1"/>
    <dgm:cxn modelId="{0819337A-3F4B-4CD5-9073-63AA7B434FF4}" type="presOf" srcId="{A865C6E5-45C2-45B4-BA86-5F397BFEB6C1}" destId="{96129D44-63E0-4AAD-96E6-585BC72D6D8F}" srcOrd="1" destOrd="0" presId="urn:microsoft.com/office/officeart/2005/8/layout/radial1"/>
    <dgm:cxn modelId="{7A0ABBE8-9BDB-4562-B801-9946203DEAC6}" srcId="{54CF4E5E-D326-40B2-B426-7B2CB8161931}" destId="{A3C2CD81-B116-4615-B5D2-19A7A2C029AE}" srcOrd="7" destOrd="0" parTransId="{9256A425-51EA-4AF3-BFC0-E35F5BEDBD73}" sibTransId="{E6D9DF2B-F4C5-436D-849E-6B3D4C2F08F1}"/>
    <dgm:cxn modelId="{77D3C201-9212-4F01-BFF0-8B2CEB81F8C6}" type="presOf" srcId="{42E0E249-C1D5-4157-943F-442788D93B51}" destId="{F40A6426-44F5-4388-831D-50162D260B19}" srcOrd="0" destOrd="0" presId="urn:microsoft.com/office/officeart/2005/8/layout/radial1"/>
    <dgm:cxn modelId="{9B7764C6-46EF-40EE-B4F3-E7A9CE50BF60}" srcId="{54CF4E5E-D326-40B2-B426-7B2CB8161931}" destId="{E84DFDD5-EFB7-4296-B900-E48A21073456}" srcOrd="1" destOrd="0" parTransId="{A609A947-C835-4764-B350-A680A2986E56}" sibTransId="{BFA1BF9F-F227-4A4A-A4DC-256FBC2C720D}"/>
    <dgm:cxn modelId="{2B5DDC9B-5632-4394-BDE6-55981413A267}" type="presOf" srcId="{54CF4E5E-D326-40B2-B426-7B2CB8161931}" destId="{08FCA6FE-6F48-4AE9-822F-54EC65B70429}" srcOrd="0" destOrd="0" presId="urn:microsoft.com/office/officeart/2005/8/layout/radial1"/>
    <dgm:cxn modelId="{E1DF7C78-0EDA-4EA9-A68D-8DFC0E467F90}" srcId="{54CF4E5E-D326-40B2-B426-7B2CB8161931}" destId="{C4BC6E6F-5329-45CF-AAC9-E4B18478752C}" srcOrd="0" destOrd="0" parTransId="{A865C6E5-45C2-45B4-BA86-5F397BFEB6C1}" sibTransId="{8279F91E-6093-4F12-947C-A4A5F8D55A27}"/>
    <dgm:cxn modelId="{8DEADBDC-1B2B-4163-A3F4-6D5E79990F2D}" type="presOf" srcId="{95E8084F-D6BA-4642-8D72-F4109D0AB434}" destId="{BE913FED-29CC-4125-A2A3-9812B4FD4533}" srcOrd="1" destOrd="0" presId="urn:microsoft.com/office/officeart/2005/8/layout/radial1"/>
    <dgm:cxn modelId="{A8868739-8A07-49A6-8EB6-1D10E69D0B41}" type="presOf" srcId="{A865C6E5-45C2-45B4-BA86-5F397BFEB6C1}" destId="{F46EA65D-27DB-4F81-B96D-34F9CAD07B24}" srcOrd="0" destOrd="0" presId="urn:microsoft.com/office/officeart/2005/8/layout/radial1"/>
    <dgm:cxn modelId="{E245CCEB-FE20-47D9-9575-0C44A3007BDE}" type="presOf" srcId="{AA301625-22F9-4306-89ED-82D61096C066}" destId="{CA20D954-99DC-4680-B6A7-60BAFC704BD1}" srcOrd="0" destOrd="0" presId="urn:microsoft.com/office/officeart/2005/8/layout/radial1"/>
    <dgm:cxn modelId="{CEC40EF7-16B9-40AB-8245-4F2222CCCE23}" type="presOf" srcId="{3CCF8784-D0F9-40F0-B404-D42A33E34247}" destId="{8E7C8D2C-E25E-4C6B-A961-B3B9D8713A81}" srcOrd="1" destOrd="0" presId="urn:microsoft.com/office/officeart/2005/8/layout/radial1"/>
    <dgm:cxn modelId="{7C3CA98A-C95D-44F7-BAD2-3D390EAE7373}" type="presOf" srcId="{107156DF-59AC-4357-AAD3-0754D4851769}" destId="{6AC906C4-8704-4F2C-958C-CE74AB4D24C0}" srcOrd="0" destOrd="0" presId="urn:microsoft.com/office/officeart/2005/8/layout/radial1"/>
    <dgm:cxn modelId="{7533DAF7-A96E-43AA-932B-7BECC88CC8AC}" srcId="{54CF4E5E-D326-40B2-B426-7B2CB8161931}" destId="{7BEBF7D8-56F9-4758-A1DF-04C53600BE97}" srcOrd="2" destOrd="0" parTransId="{FC759379-B975-413F-A0CC-98449D04E44B}" sibTransId="{5E27224D-E2E3-4A8A-8BF4-BC0192B4267A}"/>
    <dgm:cxn modelId="{7023B1F2-9DAA-4DB4-A14A-6016D11663A3}" type="presOf" srcId="{CB34A822-8A9C-470D-AC3D-668260E7DC08}" destId="{9485358D-E311-4C13-851B-9B772D692338}" srcOrd="0" destOrd="0" presId="urn:microsoft.com/office/officeart/2005/8/layout/radial1"/>
    <dgm:cxn modelId="{88EC1DC3-5C58-4057-B278-BB0F47365B48}" srcId="{54CF4E5E-D326-40B2-B426-7B2CB8161931}" destId="{7C53BB4C-4782-4CC8-AA94-4BDA3DFEBF71}" srcOrd="4" destOrd="0" parTransId="{95E8084F-D6BA-4642-8D72-F4109D0AB434}" sibTransId="{0850C562-7BE6-4DF0-AADE-43DEE0FACEDB}"/>
    <dgm:cxn modelId="{640EBEF8-FCA6-41DA-9D60-4414E0D1F826}" srcId="{54CF4E5E-D326-40B2-B426-7B2CB8161931}" destId="{5685C538-2C0A-4930-AF67-969D45048BE9}" srcOrd="3" destOrd="0" parTransId="{64DA73B4-EF26-4589-9A3C-9955ABB44AAA}" sibTransId="{27A51A45-283C-460B-883F-5CE5D5FC1D39}"/>
    <dgm:cxn modelId="{0DC4E9C0-121E-4F18-8B31-E93DB50A0DE2}" type="presOf" srcId="{B60F2126-7A82-4682-9456-AC9745595B75}" destId="{2836CA72-672F-4E89-9B3B-23C788EF5223}" srcOrd="0" destOrd="0" presId="urn:microsoft.com/office/officeart/2005/8/layout/radial1"/>
    <dgm:cxn modelId="{F6D68460-03F8-4C2B-A971-66D0D89A9DB2}" type="presOf" srcId="{879D407F-827F-4F20-8EF4-43DBC9AFEF18}" destId="{6E09D7DE-BC40-4ECD-B5EE-0F24BB236338}" srcOrd="1" destOrd="0" presId="urn:microsoft.com/office/officeart/2005/8/layout/radial1"/>
    <dgm:cxn modelId="{BDFA573C-28E5-4DD6-B410-2FFB42BAA727}" type="presOf" srcId="{3CCF8784-D0F9-40F0-B404-D42A33E34247}" destId="{2BD0563D-7527-46FA-95AB-244440E2FBF7}" srcOrd="0" destOrd="0" presId="urn:microsoft.com/office/officeart/2005/8/layout/radial1"/>
    <dgm:cxn modelId="{4F40E88C-BA9D-4C9B-9E12-36FAEE527E7C}" type="presOf" srcId="{64DA73B4-EF26-4589-9A3C-9955ABB44AAA}" destId="{56BE2FE0-778D-493C-8B03-FFD71BEA8C6B}" srcOrd="0" destOrd="0" presId="urn:microsoft.com/office/officeart/2005/8/layout/radial1"/>
    <dgm:cxn modelId="{24BEE5D0-108D-40D7-9D1E-3FAD7049BAB8}" type="presOf" srcId="{5685C538-2C0A-4930-AF67-969D45048BE9}" destId="{7BF7CA50-B620-47A7-BB55-1448D5922E0E}" srcOrd="0" destOrd="0" presId="urn:microsoft.com/office/officeart/2005/8/layout/radial1"/>
    <dgm:cxn modelId="{27380B2D-543E-46FD-9975-286179B887E9}" type="presOf" srcId="{64DA73B4-EF26-4589-9A3C-9955ABB44AAA}" destId="{914D9877-BBA7-49B6-A35C-BA336483C479}" srcOrd="1" destOrd="0" presId="urn:microsoft.com/office/officeart/2005/8/layout/radial1"/>
    <dgm:cxn modelId="{4B305F0E-D357-4FED-B126-C091989C782E}" type="presParOf" srcId="{2F1AA8C3-E7EB-4748-8A6A-A3024335794B}" destId="{08FCA6FE-6F48-4AE9-822F-54EC65B70429}" srcOrd="0" destOrd="0" presId="urn:microsoft.com/office/officeart/2005/8/layout/radial1"/>
    <dgm:cxn modelId="{DC5588E0-BA4B-429A-8B52-39A065479001}" type="presParOf" srcId="{2F1AA8C3-E7EB-4748-8A6A-A3024335794B}" destId="{F46EA65D-27DB-4F81-B96D-34F9CAD07B24}" srcOrd="1" destOrd="0" presId="urn:microsoft.com/office/officeart/2005/8/layout/radial1"/>
    <dgm:cxn modelId="{44D55B07-EE5F-42BC-886D-EF15520E6CFC}" type="presParOf" srcId="{F46EA65D-27DB-4F81-B96D-34F9CAD07B24}" destId="{96129D44-63E0-4AAD-96E6-585BC72D6D8F}" srcOrd="0" destOrd="0" presId="urn:microsoft.com/office/officeart/2005/8/layout/radial1"/>
    <dgm:cxn modelId="{4115FCF8-B34C-4481-836B-4AF235D22B87}" type="presParOf" srcId="{2F1AA8C3-E7EB-4748-8A6A-A3024335794B}" destId="{6BAF031A-25AA-4CEC-B36A-226AF0FA7609}" srcOrd="2" destOrd="0" presId="urn:microsoft.com/office/officeart/2005/8/layout/radial1"/>
    <dgm:cxn modelId="{FEE84CD7-8EE7-486A-8F8B-2EB92CAAD4BC}" type="presParOf" srcId="{2F1AA8C3-E7EB-4748-8A6A-A3024335794B}" destId="{9250B49F-4707-4E21-BED6-3EBD6476D8A4}" srcOrd="3" destOrd="0" presId="urn:microsoft.com/office/officeart/2005/8/layout/radial1"/>
    <dgm:cxn modelId="{BCAC4EA5-73C6-45C4-859E-5E98C2879EE3}" type="presParOf" srcId="{9250B49F-4707-4E21-BED6-3EBD6476D8A4}" destId="{B3E2215D-517C-44AC-B3D7-982623711D98}" srcOrd="0" destOrd="0" presId="urn:microsoft.com/office/officeart/2005/8/layout/radial1"/>
    <dgm:cxn modelId="{FD8E72C5-BE0D-432A-8D57-187411B77089}" type="presParOf" srcId="{2F1AA8C3-E7EB-4748-8A6A-A3024335794B}" destId="{A45577C4-9607-41AF-892D-9ABBCE2BF7B2}" srcOrd="4" destOrd="0" presId="urn:microsoft.com/office/officeart/2005/8/layout/radial1"/>
    <dgm:cxn modelId="{91651F55-8B3C-4F77-B0B2-629E2F01151B}" type="presParOf" srcId="{2F1AA8C3-E7EB-4748-8A6A-A3024335794B}" destId="{EF6CAE2C-31B5-4B45-ABBB-E91E088EDFD9}" srcOrd="5" destOrd="0" presId="urn:microsoft.com/office/officeart/2005/8/layout/radial1"/>
    <dgm:cxn modelId="{FDFD6730-7BE0-4138-BFEE-B5798B66D866}" type="presParOf" srcId="{EF6CAE2C-31B5-4B45-ABBB-E91E088EDFD9}" destId="{28ECF745-1E97-4C27-856D-A5FB8F85E34B}" srcOrd="0" destOrd="0" presId="urn:microsoft.com/office/officeart/2005/8/layout/radial1"/>
    <dgm:cxn modelId="{65C935B2-7FF0-460C-B2E1-7CB33072F850}" type="presParOf" srcId="{2F1AA8C3-E7EB-4748-8A6A-A3024335794B}" destId="{778B7A07-6682-4409-8816-A36EAF95FDBA}" srcOrd="6" destOrd="0" presId="urn:microsoft.com/office/officeart/2005/8/layout/radial1"/>
    <dgm:cxn modelId="{1F40F02B-6D68-4263-8D43-6B9EFC2B7451}" type="presParOf" srcId="{2F1AA8C3-E7EB-4748-8A6A-A3024335794B}" destId="{56BE2FE0-778D-493C-8B03-FFD71BEA8C6B}" srcOrd="7" destOrd="0" presId="urn:microsoft.com/office/officeart/2005/8/layout/radial1"/>
    <dgm:cxn modelId="{67F7D434-DC98-4CEF-AEE2-D89B899C7727}" type="presParOf" srcId="{56BE2FE0-778D-493C-8B03-FFD71BEA8C6B}" destId="{914D9877-BBA7-49B6-A35C-BA336483C479}" srcOrd="0" destOrd="0" presId="urn:microsoft.com/office/officeart/2005/8/layout/radial1"/>
    <dgm:cxn modelId="{7B11C9D8-36DD-4882-99C5-2AF0B4070226}" type="presParOf" srcId="{2F1AA8C3-E7EB-4748-8A6A-A3024335794B}" destId="{7BF7CA50-B620-47A7-BB55-1448D5922E0E}" srcOrd="8" destOrd="0" presId="urn:microsoft.com/office/officeart/2005/8/layout/radial1"/>
    <dgm:cxn modelId="{763DE03C-5BF4-46A0-B521-66767301BDE4}" type="presParOf" srcId="{2F1AA8C3-E7EB-4748-8A6A-A3024335794B}" destId="{1EC01EAD-4F14-4713-A851-74BECC090B64}" srcOrd="9" destOrd="0" presId="urn:microsoft.com/office/officeart/2005/8/layout/radial1"/>
    <dgm:cxn modelId="{10EE95C0-AAB8-4FFA-B750-817BE46FD3BC}" type="presParOf" srcId="{1EC01EAD-4F14-4713-A851-74BECC090B64}" destId="{BE913FED-29CC-4125-A2A3-9812B4FD4533}" srcOrd="0" destOrd="0" presId="urn:microsoft.com/office/officeart/2005/8/layout/radial1"/>
    <dgm:cxn modelId="{39C4488F-E2B2-4F75-AA6F-B331ED869E32}" type="presParOf" srcId="{2F1AA8C3-E7EB-4748-8A6A-A3024335794B}" destId="{73A87D89-5EC6-4131-AD3F-3B6E40958738}" srcOrd="10" destOrd="0" presId="urn:microsoft.com/office/officeart/2005/8/layout/radial1"/>
    <dgm:cxn modelId="{76352F8B-7DA0-4864-B19D-D6FADE1CFDFC}" type="presParOf" srcId="{2F1AA8C3-E7EB-4748-8A6A-A3024335794B}" destId="{6AC906C4-8704-4F2C-958C-CE74AB4D24C0}" srcOrd="11" destOrd="0" presId="urn:microsoft.com/office/officeart/2005/8/layout/radial1"/>
    <dgm:cxn modelId="{50AC04BD-8530-47F1-A889-A3D0E7B0D154}" type="presParOf" srcId="{6AC906C4-8704-4F2C-958C-CE74AB4D24C0}" destId="{7D10ADD6-0BBF-48F1-8B0F-010E401526E2}" srcOrd="0" destOrd="0" presId="urn:microsoft.com/office/officeart/2005/8/layout/radial1"/>
    <dgm:cxn modelId="{C647C7A4-AD74-4849-AB87-3011C96DEB49}" type="presParOf" srcId="{2F1AA8C3-E7EB-4748-8A6A-A3024335794B}" destId="{CFAAF088-A57F-4AC3-8227-657B43B88A0F}" srcOrd="12" destOrd="0" presId="urn:microsoft.com/office/officeart/2005/8/layout/radial1"/>
    <dgm:cxn modelId="{817442B6-5275-4DC3-97ED-BDA9CC3B7D2A}" type="presParOf" srcId="{2F1AA8C3-E7EB-4748-8A6A-A3024335794B}" destId="{B027EC0E-F088-4C61-873D-2601A89614A9}" srcOrd="13" destOrd="0" presId="urn:microsoft.com/office/officeart/2005/8/layout/radial1"/>
    <dgm:cxn modelId="{C08862D1-85DA-4FC2-87D1-D044BD8C518B}" type="presParOf" srcId="{B027EC0E-F088-4C61-873D-2601A89614A9}" destId="{6E09D7DE-BC40-4ECD-B5EE-0F24BB236338}" srcOrd="0" destOrd="0" presId="urn:microsoft.com/office/officeart/2005/8/layout/radial1"/>
    <dgm:cxn modelId="{D7379F26-3966-45C2-81E3-D207D8163D9A}" type="presParOf" srcId="{2F1AA8C3-E7EB-4748-8A6A-A3024335794B}" destId="{CA20D954-99DC-4680-B6A7-60BAFC704BD1}" srcOrd="14" destOrd="0" presId="urn:microsoft.com/office/officeart/2005/8/layout/radial1"/>
    <dgm:cxn modelId="{C2725DA0-462F-4E12-80B8-5830CFF0C554}" type="presParOf" srcId="{2F1AA8C3-E7EB-4748-8A6A-A3024335794B}" destId="{8530522F-8C7B-43C1-8939-5FD722362600}" srcOrd="15" destOrd="0" presId="urn:microsoft.com/office/officeart/2005/8/layout/radial1"/>
    <dgm:cxn modelId="{AD4D78B6-469E-46DE-AE7B-1251F8228B38}" type="presParOf" srcId="{8530522F-8C7B-43C1-8939-5FD722362600}" destId="{1170430B-A90E-4B4E-B151-35D62935721E}" srcOrd="0" destOrd="0" presId="urn:microsoft.com/office/officeart/2005/8/layout/radial1"/>
    <dgm:cxn modelId="{9671B187-9F63-4F7D-B77C-0606ED64F53E}" type="presParOf" srcId="{2F1AA8C3-E7EB-4748-8A6A-A3024335794B}" destId="{863E727C-8D82-4B51-B2A2-3157531506E7}" srcOrd="16" destOrd="0" presId="urn:microsoft.com/office/officeart/2005/8/layout/radial1"/>
    <dgm:cxn modelId="{C619513D-CA87-45D3-89CA-B368F3159A01}" type="presParOf" srcId="{2F1AA8C3-E7EB-4748-8A6A-A3024335794B}" destId="{2BD0563D-7527-46FA-95AB-244440E2FBF7}" srcOrd="17" destOrd="0" presId="urn:microsoft.com/office/officeart/2005/8/layout/radial1"/>
    <dgm:cxn modelId="{0B7660C4-AE13-472F-9799-23A059301546}" type="presParOf" srcId="{2BD0563D-7527-46FA-95AB-244440E2FBF7}" destId="{8E7C8D2C-E25E-4C6B-A961-B3B9D8713A81}" srcOrd="0" destOrd="0" presId="urn:microsoft.com/office/officeart/2005/8/layout/radial1"/>
    <dgm:cxn modelId="{6E0CC359-E0C7-4721-807A-3C52AF10E659}" type="presParOf" srcId="{2F1AA8C3-E7EB-4748-8A6A-A3024335794B}" destId="{9485358D-E311-4C13-851B-9B772D692338}" srcOrd="18" destOrd="0" presId="urn:microsoft.com/office/officeart/2005/8/layout/radial1"/>
    <dgm:cxn modelId="{96A8FE2D-FA6B-499D-8E7D-CC41A2C39F39}" type="presParOf" srcId="{2F1AA8C3-E7EB-4748-8A6A-A3024335794B}" destId="{2836CA72-672F-4E89-9B3B-23C788EF5223}" srcOrd="19" destOrd="0" presId="urn:microsoft.com/office/officeart/2005/8/layout/radial1"/>
    <dgm:cxn modelId="{3FE8C4E6-F08A-40DB-AC7D-51F1F7084A0C}" type="presParOf" srcId="{2836CA72-672F-4E89-9B3B-23C788EF5223}" destId="{14211216-4595-4ACD-BBD1-C1B3A8E3CEAA}" srcOrd="0" destOrd="0" presId="urn:microsoft.com/office/officeart/2005/8/layout/radial1"/>
    <dgm:cxn modelId="{BBA1E157-3953-46A6-BAA9-6BF74E9F61E4}" type="presParOf" srcId="{2F1AA8C3-E7EB-4748-8A6A-A3024335794B}" destId="{F40A6426-44F5-4388-831D-50162D260B19}" srcOrd="20"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FCA6FE-6F48-4AE9-822F-54EC65B70429}">
      <dsp:nvSpPr>
        <dsp:cNvPr id="0" name=""/>
        <dsp:cNvSpPr/>
      </dsp:nvSpPr>
      <dsp:spPr>
        <a:xfrm>
          <a:off x="2670629" y="2235198"/>
          <a:ext cx="2425805" cy="2387603"/>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1244600">
            <a:lnSpc>
              <a:spcPct val="90000"/>
            </a:lnSpc>
            <a:spcBef>
              <a:spcPct val="0"/>
            </a:spcBef>
            <a:spcAft>
              <a:spcPts val="600"/>
            </a:spcAft>
          </a:pPr>
          <a:r>
            <a:rPr lang="en-US" sz="2800" b="0" kern="1200" dirty="0" smtClean="0"/>
            <a:t>WHERE?</a:t>
          </a:r>
        </a:p>
        <a:p>
          <a:pPr lvl="0" algn="ctr" defTabSz="1244600">
            <a:lnSpc>
              <a:spcPct val="90000"/>
            </a:lnSpc>
            <a:spcBef>
              <a:spcPct val="0"/>
            </a:spcBef>
            <a:spcAft>
              <a:spcPct val="35000"/>
            </a:spcAft>
          </a:pPr>
          <a:r>
            <a:rPr lang="en-US" sz="2200" b="0" kern="1200" dirty="0" smtClean="0"/>
            <a:t>to look for Problem statement</a:t>
          </a:r>
        </a:p>
      </dsp:txBody>
      <dsp:txXfrm>
        <a:off x="3025880" y="2584854"/>
        <a:ext cx="1715303" cy="1688291"/>
      </dsp:txXfrm>
    </dsp:sp>
    <dsp:sp modelId="{F46EA65D-27DB-4F81-B96D-34F9CAD07B24}">
      <dsp:nvSpPr>
        <dsp:cNvPr id="0" name=""/>
        <dsp:cNvSpPr/>
      </dsp:nvSpPr>
      <dsp:spPr>
        <a:xfrm rot="16200000">
          <a:off x="3433264" y="1769822"/>
          <a:ext cx="900536" cy="30216"/>
        </a:xfrm>
        <a:custGeom>
          <a:avLst/>
          <a:gdLst/>
          <a:ahLst/>
          <a:cxnLst/>
          <a:rect l="0" t="0" r="0" b="0"/>
          <a:pathLst>
            <a:path>
              <a:moveTo>
                <a:pt x="0" y="15108"/>
              </a:moveTo>
              <a:lnTo>
                <a:pt x="900536"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89000">
            <a:lnSpc>
              <a:spcPct val="90000"/>
            </a:lnSpc>
            <a:spcBef>
              <a:spcPct val="0"/>
            </a:spcBef>
            <a:spcAft>
              <a:spcPct val="35000"/>
            </a:spcAft>
          </a:pPr>
          <a:endParaRPr lang="en-US" sz="2000" b="0" kern="1200"/>
        </a:p>
      </dsp:txBody>
      <dsp:txXfrm>
        <a:off x="3861019" y="1762417"/>
        <a:ext cx="45026" cy="45026"/>
      </dsp:txXfrm>
    </dsp:sp>
    <dsp:sp modelId="{6BAF031A-25AA-4CEC-B36A-226AF0FA7609}">
      <dsp:nvSpPr>
        <dsp:cNvPr id="0" name=""/>
        <dsp:cNvSpPr/>
      </dsp:nvSpPr>
      <dsp:spPr>
        <a:xfrm>
          <a:off x="3231612" y="30823"/>
          <a:ext cx="1303839" cy="130383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Consultation with expert</a:t>
          </a:r>
          <a:endParaRPr lang="en-US" sz="1200" b="0" kern="1200" dirty="0"/>
        </a:p>
      </dsp:txBody>
      <dsp:txXfrm>
        <a:off x="3422555" y="221766"/>
        <a:ext cx="921953" cy="921953"/>
      </dsp:txXfrm>
    </dsp:sp>
    <dsp:sp modelId="{9250B49F-4707-4E21-BED6-3EBD6476D8A4}">
      <dsp:nvSpPr>
        <dsp:cNvPr id="0" name=""/>
        <dsp:cNvSpPr/>
      </dsp:nvSpPr>
      <dsp:spPr>
        <a:xfrm rot="18360000">
          <a:off x="4404782" y="2081183"/>
          <a:ext cx="894039" cy="30216"/>
        </a:xfrm>
        <a:custGeom>
          <a:avLst/>
          <a:gdLst/>
          <a:ahLst/>
          <a:cxnLst/>
          <a:rect l="0" t="0" r="0" b="0"/>
          <a:pathLst>
            <a:path>
              <a:moveTo>
                <a:pt x="0" y="15108"/>
              </a:moveTo>
              <a:lnTo>
                <a:pt x="894039"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b="0" kern="1200"/>
        </a:p>
      </dsp:txBody>
      <dsp:txXfrm>
        <a:off x="4829450" y="2073940"/>
        <a:ext cx="44701" cy="44701"/>
      </dsp:txXfrm>
    </dsp:sp>
    <dsp:sp modelId="{A45577C4-9607-41AF-892D-9ABBCE2BF7B2}">
      <dsp:nvSpPr>
        <dsp:cNvPr id="0" name=""/>
        <dsp:cNvSpPr/>
      </dsp:nvSpPr>
      <dsp:spPr>
        <a:xfrm>
          <a:off x="4845822" y="555311"/>
          <a:ext cx="1303839" cy="1303839"/>
        </a:xfrm>
        <a:prstGeom prst="ellipse">
          <a:avLst/>
        </a:prstGeom>
        <a:solidFill>
          <a:schemeClr val="accent5">
            <a:hueOff val="-2369236"/>
            <a:satOff val="1347"/>
            <a:lumOff val="-111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Personal Experience</a:t>
          </a:r>
          <a:endParaRPr lang="en-US" sz="1200" b="0" kern="1200" dirty="0"/>
        </a:p>
      </dsp:txBody>
      <dsp:txXfrm>
        <a:off x="5036765" y="746254"/>
        <a:ext cx="921953" cy="921953"/>
      </dsp:txXfrm>
    </dsp:sp>
    <dsp:sp modelId="{EF6CAE2C-31B5-4B45-ABBB-E91E088EDFD9}">
      <dsp:nvSpPr>
        <dsp:cNvPr id="0" name=""/>
        <dsp:cNvSpPr/>
      </dsp:nvSpPr>
      <dsp:spPr>
        <a:xfrm rot="20520000">
          <a:off x="5013683" y="2903183"/>
          <a:ext cx="883298" cy="30216"/>
        </a:xfrm>
        <a:custGeom>
          <a:avLst/>
          <a:gdLst/>
          <a:ahLst/>
          <a:cxnLst/>
          <a:rect l="0" t="0" r="0" b="0"/>
          <a:pathLst>
            <a:path>
              <a:moveTo>
                <a:pt x="0" y="15108"/>
              </a:moveTo>
              <a:lnTo>
                <a:pt x="883298"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b="0" kern="1200"/>
        </a:p>
      </dsp:txBody>
      <dsp:txXfrm>
        <a:off x="5433250" y="2896208"/>
        <a:ext cx="44164" cy="44164"/>
      </dsp:txXfrm>
    </dsp:sp>
    <dsp:sp modelId="{778B7A07-6682-4409-8816-A36EAF95FDBA}">
      <dsp:nvSpPr>
        <dsp:cNvPr id="0" name=""/>
        <dsp:cNvSpPr/>
      </dsp:nvSpPr>
      <dsp:spPr>
        <a:xfrm>
          <a:off x="5843458" y="1928440"/>
          <a:ext cx="1303839" cy="1303839"/>
        </a:xfrm>
        <a:prstGeom prst="ellipse">
          <a:avLst/>
        </a:prstGeom>
        <a:solidFill>
          <a:schemeClr val="accent5">
            <a:hueOff val="-4738472"/>
            <a:satOff val="2693"/>
            <a:lumOff val="-222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Practical Experience</a:t>
          </a:r>
          <a:endParaRPr lang="en-US" sz="1200" b="0" kern="1200" dirty="0"/>
        </a:p>
      </dsp:txBody>
      <dsp:txXfrm>
        <a:off x="6034401" y="2119383"/>
        <a:ext cx="921953" cy="921953"/>
      </dsp:txXfrm>
    </dsp:sp>
    <dsp:sp modelId="{56BE2FE0-778D-493C-8B03-FFD71BEA8C6B}">
      <dsp:nvSpPr>
        <dsp:cNvPr id="0" name=""/>
        <dsp:cNvSpPr/>
      </dsp:nvSpPr>
      <dsp:spPr>
        <a:xfrm rot="1080000">
          <a:off x="5013683" y="3924600"/>
          <a:ext cx="883298" cy="30216"/>
        </a:xfrm>
        <a:custGeom>
          <a:avLst/>
          <a:gdLst/>
          <a:ahLst/>
          <a:cxnLst/>
          <a:rect l="0" t="0" r="0" b="0"/>
          <a:pathLst>
            <a:path>
              <a:moveTo>
                <a:pt x="0" y="15108"/>
              </a:moveTo>
              <a:lnTo>
                <a:pt x="883298"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b="0" kern="1200"/>
        </a:p>
      </dsp:txBody>
      <dsp:txXfrm>
        <a:off x="5433250" y="3917626"/>
        <a:ext cx="44164" cy="44164"/>
      </dsp:txXfrm>
    </dsp:sp>
    <dsp:sp modelId="{7BF7CA50-B620-47A7-BB55-1448D5922E0E}">
      <dsp:nvSpPr>
        <dsp:cNvPr id="0" name=""/>
        <dsp:cNvSpPr/>
      </dsp:nvSpPr>
      <dsp:spPr>
        <a:xfrm>
          <a:off x="5843458" y="3625720"/>
          <a:ext cx="1303839" cy="1303839"/>
        </a:xfrm>
        <a:prstGeom prst="ellipse">
          <a:avLst/>
        </a:prstGeom>
        <a:solidFill>
          <a:schemeClr val="accent5">
            <a:hueOff val="-7107707"/>
            <a:satOff val="4040"/>
            <a:lumOff val="-333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Previous Research</a:t>
          </a:r>
          <a:endParaRPr lang="en-US" sz="1200" b="0" kern="1200" dirty="0"/>
        </a:p>
      </dsp:txBody>
      <dsp:txXfrm>
        <a:off x="6034401" y="3816663"/>
        <a:ext cx="921953" cy="921953"/>
      </dsp:txXfrm>
    </dsp:sp>
    <dsp:sp modelId="{1EC01EAD-4F14-4713-A851-74BECC090B64}">
      <dsp:nvSpPr>
        <dsp:cNvPr id="0" name=""/>
        <dsp:cNvSpPr/>
      </dsp:nvSpPr>
      <dsp:spPr>
        <a:xfrm rot="3240000">
          <a:off x="4404782" y="4746600"/>
          <a:ext cx="894039" cy="30216"/>
        </a:xfrm>
        <a:custGeom>
          <a:avLst/>
          <a:gdLst/>
          <a:ahLst/>
          <a:cxnLst/>
          <a:rect l="0" t="0" r="0" b="0"/>
          <a:pathLst>
            <a:path>
              <a:moveTo>
                <a:pt x="0" y="15108"/>
              </a:moveTo>
              <a:lnTo>
                <a:pt x="894039"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b="0" kern="1200"/>
        </a:p>
      </dsp:txBody>
      <dsp:txXfrm>
        <a:off x="4829450" y="4739357"/>
        <a:ext cx="44701" cy="44701"/>
      </dsp:txXfrm>
    </dsp:sp>
    <dsp:sp modelId="{73A87D89-5EC6-4131-AD3F-3B6E40958738}">
      <dsp:nvSpPr>
        <dsp:cNvPr id="0" name=""/>
        <dsp:cNvSpPr/>
      </dsp:nvSpPr>
      <dsp:spPr>
        <a:xfrm>
          <a:off x="4845822" y="4998849"/>
          <a:ext cx="1303839" cy="1303839"/>
        </a:xfrm>
        <a:prstGeom prst="ellipse">
          <a:avLst/>
        </a:prstGeom>
        <a:solidFill>
          <a:schemeClr val="accent5">
            <a:hueOff val="-9476943"/>
            <a:satOff val="5386"/>
            <a:lumOff val="-444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Existing theories</a:t>
          </a:r>
          <a:endParaRPr lang="en-US" sz="1200" b="0" kern="1200" dirty="0"/>
        </a:p>
      </dsp:txBody>
      <dsp:txXfrm>
        <a:off x="5036765" y="5189792"/>
        <a:ext cx="921953" cy="921953"/>
      </dsp:txXfrm>
    </dsp:sp>
    <dsp:sp modelId="{6AC906C4-8704-4F2C-958C-CE74AB4D24C0}">
      <dsp:nvSpPr>
        <dsp:cNvPr id="0" name=""/>
        <dsp:cNvSpPr/>
      </dsp:nvSpPr>
      <dsp:spPr>
        <a:xfrm rot="5400000">
          <a:off x="3433264" y="5057961"/>
          <a:ext cx="900536" cy="30216"/>
        </a:xfrm>
        <a:custGeom>
          <a:avLst/>
          <a:gdLst/>
          <a:ahLst/>
          <a:cxnLst/>
          <a:rect l="0" t="0" r="0" b="0"/>
          <a:pathLst>
            <a:path>
              <a:moveTo>
                <a:pt x="0" y="15108"/>
              </a:moveTo>
              <a:lnTo>
                <a:pt x="900536"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89000">
            <a:lnSpc>
              <a:spcPct val="90000"/>
            </a:lnSpc>
            <a:spcBef>
              <a:spcPct val="0"/>
            </a:spcBef>
            <a:spcAft>
              <a:spcPct val="35000"/>
            </a:spcAft>
          </a:pPr>
          <a:endParaRPr lang="en-US" sz="2000" b="0" kern="1200"/>
        </a:p>
      </dsp:txBody>
      <dsp:txXfrm>
        <a:off x="3861019" y="5050556"/>
        <a:ext cx="45026" cy="45026"/>
      </dsp:txXfrm>
    </dsp:sp>
    <dsp:sp modelId="{CFAAF088-A57F-4AC3-8227-657B43B88A0F}">
      <dsp:nvSpPr>
        <dsp:cNvPr id="0" name=""/>
        <dsp:cNvSpPr/>
      </dsp:nvSpPr>
      <dsp:spPr>
        <a:xfrm>
          <a:off x="3231612" y="5523337"/>
          <a:ext cx="1303839" cy="1303839"/>
        </a:xfrm>
        <a:prstGeom prst="ellipse">
          <a:avLst/>
        </a:prstGeom>
        <a:solidFill>
          <a:schemeClr val="accent5">
            <a:hueOff val="-11846179"/>
            <a:satOff val="6733"/>
            <a:lumOff val="-555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Brainstorming/Informal discussion</a:t>
          </a:r>
          <a:endParaRPr lang="en-US" sz="1200" b="0" kern="1200" dirty="0"/>
        </a:p>
      </dsp:txBody>
      <dsp:txXfrm>
        <a:off x="3422555" y="5714280"/>
        <a:ext cx="921953" cy="921953"/>
      </dsp:txXfrm>
    </dsp:sp>
    <dsp:sp modelId="{B027EC0E-F088-4C61-873D-2601A89614A9}">
      <dsp:nvSpPr>
        <dsp:cNvPr id="0" name=""/>
        <dsp:cNvSpPr/>
      </dsp:nvSpPr>
      <dsp:spPr>
        <a:xfrm rot="7560000">
          <a:off x="2468243" y="4746600"/>
          <a:ext cx="894039" cy="30216"/>
        </a:xfrm>
        <a:custGeom>
          <a:avLst/>
          <a:gdLst/>
          <a:ahLst/>
          <a:cxnLst/>
          <a:rect l="0" t="0" r="0" b="0"/>
          <a:pathLst>
            <a:path>
              <a:moveTo>
                <a:pt x="0" y="15108"/>
              </a:moveTo>
              <a:lnTo>
                <a:pt x="894039"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89000">
            <a:lnSpc>
              <a:spcPct val="90000"/>
            </a:lnSpc>
            <a:spcBef>
              <a:spcPct val="0"/>
            </a:spcBef>
            <a:spcAft>
              <a:spcPct val="35000"/>
            </a:spcAft>
          </a:pPr>
          <a:endParaRPr lang="en-US" sz="2000" b="0" kern="1200"/>
        </a:p>
      </dsp:txBody>
      <dsp:txXfrm rot="10800000">
        <a:off x="2892912" y="4739357"/>
        <a:ext cx="44701" cy="44701"/>
      </dsp:txXfrm>
    </dsp:sp>
    <dsp:sp modelId="{CA20D954-99DC-4680-B6A7-60BAFC704BD1}">
      <dsp:nvSpPr>
        <dsp:cNvPr id="0" name=""/>
        <dsp:cNvSpPr/>
      </dsp:nvSpPr>
      <dsp:spPr>
        <a:xfrm>
          <a:off x="1617403" y="4998849"/>
          <a:ext cx="1303839" cy="1303839"/>
        </a:xfrm>
        <a:prstGeom prst="ellipse">
          <a:avLst/>
        </a:prstGeom>
        <a:solidFill>
          <a:schemeClr val="accent5">
            <a:hueOff val="-14215414"/>
            <a:satOff val="8079"/>
            <a:lumOff val="-666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Critical Appraisal of Literature</a:t>
          </a:r>
          <a:endParaRPr lang="en-US" sz="1200" b="0" kern="1200" dirty="0"/>
        </a:p>
      </dsp:txBody>
      <dsp:txXfrm>
        <a:off x="1808346" y="5189792"/>
        <a:ext cx="921953" cy="921953"/>
      </dsp:txXfrm>
    </dsp:sp>
    <dsp:sp modelId="{8530522F-8C7B-43C1-8939-5FD722362600}">
      <dsp:nvSpPr>
        <dsp:cNvPr id="0" name=""/>
        <dsp:cNvSpPr/>
      </dsp:nvSpPr>
      <dsp:spPr>
        <a:xfrm rot="9720000">
          <a:off x="1870083" y="3924600"/>
          <a:ext cx="883298" cy="30216"/>
        </a:xfrm>
        <a:custGeom>
          <a:avLst/>
          <a:gdLst/>
          <a:ahLst/>
          <a:cxnLst/>
          <a:rect l="0" t="0" r="0" b="0"/>
          <a:pathLst>
            <a:path>
              <a:moveTo>
                <a:pt x="0" y="15108"/>
              </a:moveTo>
              <a:lnTo>
                <a:pt x="883298"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89000">
            <a:lnSpc>
              <a:spcPct val="90000"/>
            </a:lnSpc>
            <a:spcBef>
              <a:spcPct val="0"/>
            </a:spcBef>
            <a:spcAft>
              <a:spcPct val="35000"/>
            </a:spcAft>
          </a:pPr>
          <a:endParaRPr lang="en-US" sz="2000" b="0" kern="1200"/>
        </a:p>
      </dsp:txBody>
      <dsp:txXfrm rot="10800000">
        <a:off x="2289650" y="3917626"/>
        <a:ext cx="44164" cy="44164"/>
      </dsp:txXfrm>
    </dsp:sp>
    <dsp:sp modelId="{863E727C-8D82-4B51-B2A2-3157531506E7}">
      <dsp:nvSpPr>
        <dsp:cNvPr id="0" name=""/>
        <dsp:cNvSpPr/>
      </dsp:nvSpPr>
      <dsp:spPr>
        <a:xfrm>
          <a:off x="619767" y="3625720"/>
          <a:ext cx="1303839" cy="1303839"/>
        </a:xfrm>
        <a:prstGeom prst="ellipse">
          <a:avLst/>
        </a:prstGeom>
        <a:solidFill>
          <a:schemeClr val="accent5">
            <a:hueOff val="-16584650"/>
            <a:satOff val="9426"/>
            <a:lumOff val="-777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Intuition</a:t>
          </a:r>
          <a:endParaRPr lang="en-US" sz="1200" b="0" kern="1200" dirty="0"/>
        </a:p>
      </dsp:txBody>
      <dsp:txXfrm>
        <a:off x="810710" y="3816663"/>
        <a:ext cx="921953" cy="921953"/>
      </dsp:txXfrm>
    </dsp:sp>
    <dsp:sp modelId="{2BD0563D-7527-46FA-95AB-244440E2FBF7}">
      <dsp:nvSpPr>
        <dsp:cNvPr id="0" name=""/>
        <dsp:cNvSpPr/>
      </dsp:nvSpPr>
      <dsp:spPr>
        <a:xfrm rot="11880000">
          <a:off x="1870083" y="2903183"/>
          <a:ext cx="883298" cy="30216"/>
        </a:xfrm>
        <a:custGeom>
          <a:avLst/>
          <a:gdLst/>
          <a:ahLst/>
          <a:cxnLst/>
          <a:rect l="0" t="0" r="0" b="0"/>
          <a:pathLst>
            <a:path>
              <a:moveTo>
                <a:pt x="0" y="15108"/>
              </a:moveTo>
              <a:lnTo>
                <a:pt x="883298"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89000">
            <a:lnSpc>
              <a:spcPct val="90000"/>
            </a:lnSpc>
            <a:spcBef>
              <a:spcPct val="0"/>
            </a:spcBef>
            <a:spcAft>
              <a:spcPct val="35000"/>
            </a:spcAft>
          </a:pPr>
          <a:endParaRPr lang="en-US" sz="2000" b="0" kern="1200"/>
        </a:p>
      </dsp:txBody>
      <dsp:txXfrm rot="10800000">
        <a:off x="2289650" y="2896208"/>
        <a:ext cx="44164" cy="44164"/>
      </dsp:txXfrm>
    </dsp:sp>
    <dsp:sp modelId="{9485358D-E311-4C13-851B-9B772D692338}">
      <dsp:nvSpPr>
        <dsp:cNvPr id="0" name=""/>
        <dsp:cNvSpPr/>
      </dsp:nvSpPr>
      <dsp:spPr>
        <a:xfrm>
          <a:off x="619767" y="1928440"/>
          <a:ext cx="1303839" cy="1303839"/>
        </a:xfrm>
        <a:prstGeom prst="ellipse">
          <a:avLst/>
        </a:prstGeom>
        <a:solidFill>
          <a:schemeClr val="accent5">
            <a:hueOff val="-18953886"/>
            <a:satOff val="10772"/>
            <a:lumOff val="-888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Folklores</a:t>
          </a:r>
          <a:endParaRPr lang="en-US" sz="1200" b="0" kern="1200" dirty="0"/>
        </a:p>
      </dsp:txBody>
      <dsp:txXfrm>
        <a:off x="810710" y="2119383"/>
        <a:ext cx="921953" cy="921953"/>
      </dsp:txXfrm>
    </dsp:sp>
    <dsp:sp modelId="{2836CA72-672F-4E89-9B3B-23C788EF5223}">
      <dsp:nvSpPr>
        <dsp:cNvPr id="0" name=""/>
        <dsp:cNvSpPr/>
      </dsp:nvSpPr>
      <dsp:spPr>
        <a:xfrm rot="14040000">
          <a:off x="2468243" y="2081183"/>
          <a:ext cx="894039" cy="30216"/>
        </a:xfrm>
        <a:custGeom>
          <a:avLst/>
          <a:gdLst/>
          <a:ahLst/>
          <a:cxnLst/>
          <a:rect l="0" t="0" r="0" b="0"/>
          <a:pathLst>
            <a:path>
              <a:moveTo>
                <a:pt x="0" y="15108"/>
              </a:moveTo>
              <a:lnTo>
                <a:pt x="894039" y="15108"/>
              </a:lnTo>
            </a:path>
          </a:pathLst>
        </a:custGeom>
        <a:noFill/>
        <a:ln w="12700" cap="flat"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177800">
            <a:lnSpc>
              <a:spcPct val="90000"/>
            </a:lnSpc>
            <a:spcBef>
              <a:spcPct val="0"/>
            </a:spcBef>
            <a:spcAft>
              <a:spcPct val="35000"/>
            </a:spcAft>
          </a:pPr>
          <a:endParaRPr lang="en-US" sz="400" b="0" kern="1200"/>
        </a:p>
      </dsp:txBody>
      <dsp:txXfrm rot="10800000">
        <a:off x="2892912" y="2073940"/>
        <a:ext cx="44701" cy="44701"/>
      </dsp:txXfrm>
    </dsp:sp>
    <dsp:sp modelId="{F40A6426-44F5-4388-831D-50162D260B19}">
      <dsp:nvSpPr>
        <dsp:cNvPr id="0" name=""/>
        <dsp:cNvSpPr/>
      </dsp:nvSpPr>
      <dsp:spPr>
        <a:xfrm>
          <a:off x="1617403" y="555311"/>
          <a:ext cx="1303839" cy="1303839"/>
        </a:xfrm>
        <a:prstGeom prst="ellipse">
          <a:avLst/>
        </a:prstGeom>
        <a:solidFill>
          <a:schemeClr val="accent5">
            <a:hueOff val="-21323121"/>
            <a:satOff val="12119"/>
            <a:lumOff val="-10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b="0" kern="1200" dirty="0" smtClean="0"/>
            <a:t>Expose to field situation</a:t>
          </a:r>
          <a:endParaRPr lang="en-US" sz="1200" b="0" kern="1200" dirty="0"/>
        </a:p>
      </dsp:txBody>
      <dsp:txXfrm>
        <a:off x="1808346" y="746254"/>
        <a:ext cx="921953" cy="921953"/>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ms-MY" smtClean="0"/>
              <a:t>Problem statement</a:t>
            </a:r>
            <a:endParaRPr lang="ms-MY"/>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6C5385-88CB-43C9-AC48-DB0EC5B106AA}" type="datetimeFigureOut">
              <a:rPr lang="ms-MY" smtClean="0"/>
              <a:t>21/10/2024</a:t>
            </a:fld>
            <a:endParaRPr lang="ms-MY"/>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ms-MY"/>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00C4BD-68F8-4E38-A29F-34DC65D3DB7C}" type="slidenum">
              <a:rPr lang="ms-MY" smtClean="0"/>
              <a:t>‹#›</a:t>
            </a:fld>
            <a:endParaRPr lang="ms-MY"/>
          </a:p>
        </p:txBody>
      </p:sp>
    </p:spTree>
    <p:extLst>
      <p:ext uri="{BB962C8B-B14F-4D97-AF65-F5344CB8AC3E}">
        <p14:creationId xmlns:p14="http://schemas.microsoft.com/office/powerpoint/2010/main" val="64418588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ms-MY" smtClean="0"/>
              <a:t>Problem statement</a:t>
            </a:r>
            <a:endParaRPr lang="ms-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0168A6-6FB1-4535-BBBD-DCF7042CD296}" type="datetimeFigureOut">
              <a:rPr lang="ms-MY" smtClean="0"/>
              <a:t>21/10/2024</a:t>
            </a:fld>
            <a:endParaRPr lang="ms-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ms-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ms-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ms-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E0F8E-AB58-40DE-B0DC-8F04F1FAC3E1}" type="slidenum">
              <a:rPr lang="ms-MY" smtClean="0"/>
              <a:t>‹#›</a:t>
            </a:fld>
            <a:endParaRPr lang="ms-MY"/>
          </a:p>
        </p:txBody>
      </p:sp>
    </p:spTree>
    <p:extLst>
      <p:ext uri="{BB962C8B-B14F-4D97-AF65-F5344CB8AC3E}">
        <p14:creationId xmlns:p14="http://schemas.microsoft.com/office/powerpoint/2010/main" val="66978281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ms-MY"/>
          </a:p>
        </p:txBody>
      </p:sp>
    </p:spTree>
    <p:extLst>
      <p:ext uri="{BB962C8B-B14F-4D97-AF65-F5344CB8AC3E}">
        <p14:creationId xmlns:p14="http://schemas.microsoft.com/office/powerpoint/2010/main" val="190475081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9A80687-4F7E-4315-9F51-8AA7A11756D6}" type="datetime1">
              <a:rPr lang="ms-MY" smtClean="0"/>
              <a:t>21/10/2024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7E4255BD-13A2-4718-96FB-F348F7D160EB}" type="slidenum">
              <a:rPr lang="ms-MY" smtClean="0"/>
              <a:t>‹#›</a:t>
            </a:fld>
            <a:endParaRPr lang="ms-MY"/>
          </a:p>
        </p:txBody>
      </p:sp>
    </p:spTree>
    <p:extLst>
      <p:ext uri="{BB962C8B-B14F-4D97-AF65-F5344CB8AC3E}">
        <p14:creationId xmlns:p14="http://schemas.microsoft.com/office/powerpoint/2010/main" val="2738782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04B8120-5D56-4A1C-B851-933A99009C58}" type="datetime1">
              <a:rPr lang="ms-MY" smtClean="0"/>
              <a:t>21/10/2024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12746436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30D4A6BE-27C3-4518-B75A-488DDA62AF4E}" type="datetime1">
              <a:rPr lang="ms-MY" smtClean="0"/>
              <a:t>21/10/2024</a:t>
            </a:fld>
            <a:endParaRPr lang="ms-MY"/>
          </a:p>
        </p:txBody>
      </p:sp>
      <p:sp>
        <p:nvSpPr>
          <p:cNvPr id="5" name="Footer Placeholder 4"/>
          <p:cNvSpPr>
            <a:spLocks noGrp="1"/>
          </p:cNvSpPr>
          <p:nvPr>
            <p:ph type="ftr" sz="quarter" idx="11"/>
          </p:nvPr>
        </p:nvSpPr>
        <p:spPr>
          <a:xfrm>
            <a:off x="2182708" y="6272784"/>
            <a:ext cx="6327648" cy="365125"/>
          </a:xfrm>
        </p:spPr>
        <p:txBody>
          <a:bodyPr/>
          <a:lstStyle/>
          <a:p>
            <a:endParaRPr lang="ms-MY"/>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7E4255BD-13A2-4718-96FB-F348F7D160EB}" type="slidenum">
              <a:rPr lang="ms-MY" smtClean="0"/>
              <a:t>‹#›</a:t>
            </a:fld>
            <a:endParaRPr lang="ms-MY"/>
          </a:p>
        </p:txBody>
      </p:sp>
    </p:spTree>
    <p:extLst>
      <p:ext uri="{BB962C8B-B14F-4D97-AF65-F5344CB8AC3E}">
        <p14:creationId xmlns:p14="http://schemas.microsoft.com/office/powerpoint/2010/main" val="498051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DCD7454-C541-498C-A0A5-62993AE5233E}" type="datetime1">
              <a:rPr lang="ms-MY" smtClean="0"/>
              <a:t>21/10/2024</a:t>
            </a:fld>
            <a:endParaRPr lang="ms-MY"/>
          </a:p>
        </p:txBody>
      </p:sp>
      <p:sp>
        <p:nvSpPr>
          <p:cNvPr id="6" name="Footer Placeholder 5"/>
          <p:cNvSpPr>
            <a:spLocks noGrp="1"/>
          </p:cNvSpPr>
          <p:nvPr>
            <p:ph type="ftr" sz="quarter" idx="11"/>
          </p:nvPr>
        </p:nvSpPr>
        <p:spPr/>
        <p:txBody>
          <a:bodyPr/>
          <a:lstStyle/>
          <a:p>
            <a:endParaRPr lang="ms-MY"/>
          </a:p>
        </p:txBody>
      </p:sp>
      <p:sp>
        <p:nvSpPr>
          <p:cNvPr id="7" name="Slide Number Placeholder 6"/>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3028634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B5508D9-53C6-426C-946A-0E693DF32878}" type="datetime1">
              <a:rPr lang="ms-MY" smtClean="0"/>
              <a:t>21/10/2024</a:t>
            </a:fld>
            <a:endParaRPr lang="ms-MY"/>
          </a:p>
        </p:txBody>
      </p:sp>
      <p:sp>
        <p:nvSpPr>
          <p:cNvPr id="8" name="Footer Placeholder 7"/>
          <p:cNvSpPr>
            <a:spLocks noGrp="1"/>
          </p:cNvSpPr>
          <p:nvPr>
            <p:ph type="ftr" sz="quarter" idx="11"/>
          </p:nvPr>
        </p:nvSpPr>
        <p:spPr/>
        <p:txBody>
          <a:bodyPr/>
          <a:lstStyle/>
          <a:p>
            <a:endParaRPr lang="ms-MY"/>
          </a:p>
        </p:txBody>
      </p:sp>
      <p:sp>
        <p:nvSpPr>
          <p:cNvPr id="9" name="Slide Number Placeholder 8"/>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1866850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ACD02C-730D-4715-9652-48EE4CBA7CED}" type="datetime1">
              <a:rPr lang="ms-MY" smtClean="0"/>
              <a:t>21/10/2024</a:t>
            </a:fld>
            <a:endParaRPr lang="ms-MY"/>
          </a:p>
        </p:txBody>
      </p:sp>
      <p:sp>
        <p:nvSpPr>
          <p:cNvPr id="4" name="Footer Placeholder 3"/>
          <p:cNvSpPr>
            <a:spLocks noGrp="1"/>
          </p:cNvSpPr>
          <p:nvPr>
            <p:ph type="ftr" sz="quarter" idx="11"/>
          </p:nvPr>
        </p:nvSpPr>
        <p:spPr/>
        <p:txBody>
          <a:bodyPr/>
          <a:lstStyle/>
          <a:p>
            <a:endParaRPr lang="ms-MY"/>
          </a:p>
        </p:txBody>
      </p:sp>
      <p:sp>
        <p:nvSpPr>
          <p:cNvPr id="5" name="Slide Number Placeholder 4"/>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32523024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2C0E17-8446-448C-8975-7A1B4ED68B4A}" type="datetime1">
              <a:rPr lang="ms-MY" smtClean="0"/>
              <a:t>21/10/2024</a:t>
            </a:fld>
            <a:endParaRPr lang="ms-MY"/>
          </a:p>
        </p:txBody>
      </p:sp>
      <p:sp>
        <p:nvSpPr>
          <p:cNvPr id="3" name="Footer Placeholder 2"/>
          <p:cNvSpPr>
            <a:spLocks noGrp="1"/>
          </p:cNvSpPr>
          <p:nvPr>
            <p:ph type="ftr" sz="quarter" idx="11"/>
          </p:nvPr>
        </p:nvSpPr>
        <p:spPr/>
        <p:txBody>
          <a:bodyPr/>
          <a:lstStyle/>
          <a:p>
            <a:endParaRPr lang="ms-MY"/>
          </a:p>
        </p:txBody>
      </p:sp>
      <p:sp>
        <p:nvSpPr>
          <p:cNvPr id="4" name="Slide Number Placeholder 3"/>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3714073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CE61630-1F87-4D5D-9CB4-F3CD9080127E}" type="datetime1">
              <a:rPr lang="ms-MY" smtClean="0"/>
              <a:t>21/10/2024</a:t>
            </a:fld>
            <a:endParaRPr lang="ms-MY"/>
          </a:p>
        </p:txBody>
      </p:sp>
      <p:sp>
        <p:nvSpPr>
          <p:cNvPr id="6" name="Footer Placeholder 5"/>
          <p:cNvSpPr>
            <a:spLocks noGrp="1"/>
          </p:cNvSpPr>
          <p:nvPr>
            <p:ph type="ftr" sz="quarter" idx="11"/>
          </p:nvPr>
        </p:nvSpPr>
        <p:spPr/>
        <p:txBody>
          <a:bodyPr/>
          <a:lstStyle/>
          <a:p>
            <a:endParaRPr lang="ms-MY"/>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433950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A3645A5-D83C-49D0-B004-5083E2239919}" type="datetime1">
              <a:rPr lang="ms-MY" smtClean="0"/>
              <a:t>21/10/2024</a:t>
            </a:fld>
            <a:endParaRPr lang="ms-MY"/>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2393961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4A09CC8-FB04-4706-B846-60A229DB3BB2}" type="datetime1">
              <a:rPr lang="ms-MY" smtClean="0"/>
              <a:t>21/10/2024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707926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6F223CB-5F49-4BE6-A135-DB7805FA6700}" type="datetime1">
              <a:rPr lang="ms-MY" smtClean="0"/>
              <a:t>21/10/2024</a:t>
            </a:fld>
            <a:endParaRPr lang="ms-MY"/>
          </a:p>
        </p:txBody>
      </p:sp>
      <p:sp>
        <p:nvSpPr>
          <p:cNvPr id="5" name="Footer Placeholder 4"/>
          <p:cNvSpPr>
            <a:spLocks noGrp="1"/>
          </p:cNvSpPr>
          <p:nvPr>
            <p:ph type="ftr" sz="quarter" idx="11"/>
          </p:nvPr>
        </p:nvSpPr>
        <p:spPr/>
        <p:txBody>
          <a:bodyPr/>
          <a:lstStyle/>
          <a:p>
            <a:endParaRPr lang="ms-MY"/>
          </a:p>
        </p:txBody>
      </p:sp>
      <p:sp>
        <p:nvSpPr>
          <p:cNvPr id="6" name="Slide Number Placeholder 5"/>
          <p:cNvSpPr>
            <a:spLocks noGrp="1"/>
          </p:cNvSpPr>
          <p:nvPr>
            <p:ph type="sldNum" sz="quarter" idx="12"/>
          </p:nvPr>
        </p:nvSpPr>
        <p:spPr/>
        <p:txBody>
          <a:bodyPr/>
          <a:lstStyle/>
          <a:p>
            <a:fld id="{7E4255BD-13A2-4718-96FB-F348F7D160EB}" type="slidenum">
              <a:rPr lang="ms-MY" smtClean="0"/>
              <a:t>‹#›</a:t>
            </a:fld>
            <a:endParaRPr lang="ms-MY"/>
          </a:p>
        </p:txBody>
      </p:sp>
    </p:spTree>
    <p:extLst>
      <p:ext uri="{BB962C8B-B14F-4D97-AF65-F5344CB8AC3E}">
        <p14:creationId xmlns:p14="http://schemas.microsoft.com/office/powerpoint/2010/main" val="1378994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0498AFE-146C-4899-BEF3-20576E80C338}" type="datetime1">
              <a:rPr lang="ms-MY" smtClean="0"/>
              <a:t>21/10/2024</a:t>
            </a:fld>
            <a:endParaRPr lang="ms-MY"/>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ms-MY"/>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7E4255BD-13A2-4718-96FB-F348F7D160EB}" type="slidenum">
              <a:rPr lang="ms-MY" smtClean="0"/>
              <a:t>‹#›</a:t>
            </a:fld>
            <a:endParaRPr lang="ms-MY"/>
          </a:p>
        </p:txBody>
      </p:sp>
    </p:spTree>
    <p:extLst>
      <p:ext uri="{BB962C8B-B14F-4D97-AF65-F5344CB8AC3E}">
        <p14:creationId xmlns:p14="http://schemas.microsoft.com/office/powerpoint/2010/main" val="12037418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8.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1560" y="1432223"/>
            <a:ext cx="10553252" cy="3035808"/>
          </a:xfrm>
        </p:spPr>
        <p:txBody>
          <a:bodyPr/>
          <a:lstStyle/>
          <a:p>
            <a:r>
              <a:rPr lang="en-US" sz="8000" b="1" dirty="0" smtClean="0"/>
              <a:t>Chapter 1</a:t>
            </a:r>
            <a:endParaRPr lang="ms-MY" sz="8000" b="1" dirty="0"/>
          </a:p>
        </p:txBody>
      </p:sp>
      <p:sp>
        <p:nvSpPr>
          <p:cNvPr id="3" name="Subtitle 2"/>
          <p:cNvSpPr>
            <a:spLocks noGrp="1"/>
          </p:cNvSpPr>
          <p:nvPr>
            <p:ph type="subTitle" idx="1"/>
          </p:nvPr>
        </p:nvSpPr>
        <p:spPr/>
        <p:txBody>
          <a:bodyPr>
            <a:normAutofit/>
          </a:bodyPr>
          <a:lstStyle/>
          <a:p>
            <a:r>
              <a:rPr lang="ms-MY" sz="2800" dirty="0" smtClean="0"/>
              <a:t>Undergraduate Project/Final Year Project</a:t>
            </a:r>
            <a:endParaRPr lang="ms-MY" sz="2800" dirty="0"/>
          </a:p>
        </p:txBody>
      </p:sp>
    </p:spTree>
    <p:extLst>
      <p:ext uri="{BB962C8B-B14F-4D97-AF65-F5344CB8AC3E}">
        <p14:creationId xmlns:p14="http://schemas.microsoft.com/office/powerpoint/2010/main" val="30377368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OUTLINE…</a:t>
            </a:r>
            <a:endParaRPr lang="ms-MY" dirty="0"/>
          </a:p>
        </p:txBody>
      </p:sp>
      <p:sp>
        <p:nvSpPr>
          <p:cNvPr id="3" name="Content Placeholder 2"/>
          <p:cNvSpPr>
            <a:spLocks noGrp="1"/>
          </p:cNvSpPr>
          <p:nvPr>
            <p:ph idx="1"/>
          </p:nvPr>
        </p:nvSpPr>
        <p:spPr>
          <a:xfrm>
            <a:off x="1069847" y="2121408"/>
            <a:ext cx="4429999" cy="4050792"/>
          </a:xfrm>
        </p:spPr>
        <p:txBody>
          <a:bodyPr/>
          <a:lstStyle/>
          <a:p>
            <a:pPr marL="457200" indent="-457200">
              <a:buFont typeface="+mj-lt"/>
              <a:buAutoNum type="arabicParenR"/>
            </a:pPr>
            <a:r>
              <a:rPr lang="en-US" sz="2800" dirty="0" smtClean="0"/>
              <a:t>Introduction</a:t>
            </a:r>
          </a:p>
          <a:p>
            <a:pPr marL="457200" indent="-457200">
              <a:buFont typeface="+mj-lt"/>
              <a:buAutoNum type="arabicParenR"/>
            </a:pPr>
            <a:r>
              <a:rPr lang="en-US" sz="2800" dirty="0"/>
              <a:t>Problem </a:t>
            </a:r>
            <a:r>
              <a:rPr lang="en-US" sz="2800" dirty="0" smtClean="0"/>
              <a:t>Statement</a:t>
            </a:r>
          </a:p>
          <a:p>
            <a:pPr marL="457200" indent="-457200">
              <a:buFont typeface="+mj-lt"/>
              <a:buAutoNum type="arabicParenR"/>
            </a:pPr>
            <a:r>
              <a:rPr lang="en-US" sz="2800" dirty="0" smtClean="0"/>
              <a:t>Research Objective</a:t>
            </a:r>
          </a:p>
          <a:p>
            <a:pPr marL="457200" indent="-457200">
              <a:buFont typeface="+mj-lt"/>
              <a:buAutoNum type="arabicParenR"/>
            </a:pPr>
            <a:r>
              <a:rPr lang="en-US" sz="2800" dirty="0" smtClean="0"/>
              <a:t>Research Scope</a:t>
            </a:r>
            <a:endParaRPr lang="ms-MY" sz="2800" dirty="0" smtClean="0"/>
          </a:p>
          <a:p>
            <a:endParaRPr lang="ms-MY" dirty="0"/>
          </a:p>
        </p:txBody>
      </p:sp>
      <p:sp>
        <p:nvSpPr>
          <p:cNvPr id="6" name="Slide Number Placeholder 5"/>
          <p:cNvSpPr>
            <a:spLocks noGrp="1"/>
          </p:cNvSpPr>
          <p:nvPr>
            <p:ph type="sldNum" sz="quarter" idx="12"/>
          </p:nvPr>
        </p:nvSpPr>
        <p:spPr/>
        <p:txBody>
          <a:bodyPr/>
          <a:lstStyle/>
          <a:p>
            <a:fld id="{7E4255BD-13A2-4718-96FB-F348F7D160EB}" type="slidenum">
              <a:rPr lang="ms-MY" smtClean="0"/>
              <a:t>2</a:t>
            </a:fld>
            <a:endParaRPr lang="ms-MY"/>
          </a:p>
        </p:txBody>
      </p:sp>
      <p:pic>
        <p:nvPicPr>
          <p:cNvPr id="6148"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7262" y="1690565"/>
            <a:ext cx="4174855" cy="3701706"/>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3936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MY" dirty="0"/>
          </a:p>
        </p:txBody>
      </p:sp>
      <p:sp>
        <p:nvSpPr>
          <p:cNvPr id="3" name="Content Placeholder 2"/>
          <p:cNvSpPr>
            <a:spLocks noGrp="1"/>
          </p:cNvSpPr>
          <p:nvPr>
            <p:ph idx="1"/>
          </p:nvPr>
        </p:nvSpPr>
        <p:spPr/>
        <p:txBody>
          <a:bodyPr/>
          <a:lstStyle/>
          <a:p>
            <a:r>
              <a:rPr lang="en-MY" b="1" dirty="0">
                <a:solidFill>
                  <a:srgbClr val="0070C0"/>
                </a:solidFill>
              </a:rPr>
              <a:t>Introduce Your Topic</a:t>
            </a:r>
            <a:r>
              <a:rPr lang="en-MY" dirty="0">
                <a:solidFill>
                  <a:srgbClr val="0070C0"/>
                </a:solidFill>
              </a:rPr>
              <a:t>:</a:t>
            </a:r>
          </a:p>
          <a:p>
            <a:pPr lvl="1"/>
            <a:r>
              <a:rPr lang="en-MY" dirty="0"/>
              <a:t>Start with a broad overview of your topic to provide context.</a:t>
            </a:r>
          </a:p>
          <a:p>
            <a:pPr lvl="1"/>
            <a:r>
              <a:rPr lang="en-MY" dirty="0"/>
              <a:t>Explain why the topic is important and relevant.</a:t>
            </a:r>
          </a:p>
          <a:p>
            <a:pPr lvl="1"/>
            <a:r>
              <a:rPr lang="en-MY" dirty="0"/>
              <a:t>Use a hook to grab the reader’s attention, such as an interesting fact, a question, or a brief anecdote.</a:t>
            </a:r>
          </a:p>
          <a:p>
            <a:r>
              <a:rPr lang="en-MY" b="1" dirty="0">
                <a:solidFill>
                  <a:srgbClr val="0070C0"/>
                </a:solidFill>
              </a:rPr>
              <a:t>Provide Background Information</a:t>
            </a:r>
            <a:r>
              <a:rPr lang="en-MY" dirty="0">
                <a:solidFill>
                  <a:srgbClr val="0070C0"/>
                </a:solidFill>
              </a:rPr>
              <a:t>:</a:t>
            </a:r>
          </a:p>
          <a:p>
            <a:pPr lvl="1"/>
            <a:r>
              <a:rPr lang="en-MY" dirty="0"/>
              <a:t>Summarize existing research or background information that is necessary for understanding your topic.</a:t>
            </a:r>
          </a:p>
          <a:p>
            <a:pPr lvl="1"/>
            <a:r>
              <a:rPr lang="en-MY" dirty="0"/>
              <a:t>Highlight any gaps in the current research that your project aims to fill.</a:t>
            </a:r>
          </a:p>
          <a:p>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3</a:t>
            </a:fld>
            <a:endParaRPr lang="ms-MY"/>
          </a:p>
        </p:txBody>
      </p:sp>
    </p:spTree>
    <p:extLst>
      <p:ext uri="{BB962C8B-B14F-4D97-AF65-F5344CB8AC3E}">
        <p14:creationId xmlns:p14="http://schemas.microsoft.com/office/powerpoint/2010/main" val="1313408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MY" dirty="0"/>
          </a:p>
        </p:txBody>
      </p:sp>
      <p:sp>
        <p:nvSpPr>
          <p:cNvPr id="3" name="Content Placeholder 2"/>
          <p:cNvSpPr>
            <a:spLocks noGrp="1"/>
          </p:cNvSpPr>
          <p:nvPr>
            <p:ph idx="1"/>
          </p:nvPr>
        </p:nvSpPr>
        <p:spPr/>
        <p:txBody>
          <a:bodyPr/>
          <a:lstStyle/>
          <a:p>
            <a:r>
              <a:rPr lang="en-MY" b="1" dirty="0">
                <a:solidFill>
                  <a:srgbClr val="0070C0"/>
                </a:solidFill>
              </a:rPr>
              <a:t>State Your Research Problem and Objectives</a:t>
            </a:r>
            <a:r>
              <a:rPr lang="en-MY" dirty="0">
                <a:solidFill>
                  <a:srgbClr val="0070C0"/>
                </a:solidFill>
              </a:rPr>
              <a:t>:</a:t>
            </a:r>
          </a:p>
          <a:p>
            <a:pPr lvl="1"/>
            <a:r>
              <a:rPr lang="en-MY" dirty="0"/>
              <a:t>Clearly define the problem your research addresses.</a:t>
            </a:r>
          </a:p>
          <a:p>
            <a:pPr lvl="1"/>
            <a:r>
              <a:rPr lang="en-MY" dirty="0"/>
              <a:t>Outline the main objectives of your project.</a:t>
            </a:r>
          </a:p>
          <a:p>
            <a:pPr lvl="1"/>
            <a:r>
              <a:rPr lang="en-MY" dirty="0"/>
              <a:t>Explain the significance of your research and how it contributes to the field.</a:t>
            </a:r>
          </a:p>
          <a:p>
            <a:r>
              <a:rPr lang="en-MY" b="1" dirty="0">
                <a:solidFill>
                  <a:srgbClr val="0070C0"/>
                </a:solidFill>
              </a:rPr>
              <a:t>Outline the Structure of Your Report</a:t>
            </a:r>
            <a:r>
              <a:rPr lang="en-MY" dirty="0">
                <a:solidFill>
                  <a:srgbClr val="0070C0"/>
                </a:solidFill>
              </a:rPr>
              <a:t>:</a:t>
            </a:r>
          </a:p>
          <a:p>
            <a:pPr lvl="1"/>
            <a:r>
              <a:rPr lang="en-MY" dirty="0"/>
              <a:t>Give a brief overview of what each section of your report will cover.</a:t>
            </a:r>
          </a:p>
          <a:p>
            <a:pPr lvl="1"/>
            <a:r>
              <a:rPr lang="en-MY" dirty="0"/>
              <a:t>This helps the reader understand the flow of your report and what to expect.</a:t>
            </a:r>
          </a:p>
          <a:p>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4</a:t>
            </a:fld>
            <a:endParaRPr lang="ms-MY"/>
          </a:p>
        </p:txBody>
      </p:sp>
    </p:spTree>
    <p:extLst>
      <p:ext uri="{BB962C8B-B14F-4D97-AF65-F5344CB8AC3E}">
        <p14:creationId xmlns:p14="http://schemas.microsoft.com/office/powerpoint/2010/main" val="2939784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lang="en-MY" dirty="0"/>
          </a:p>
        </p:txBody>
      </p:sp>
      <p:sp>
        <p:nvSpPr>
          <p:cNvPr id="3" name="Content Placeholder 2"/>
          <p:cNvSpPr>
            <a:spLocks noGrp="1"/>
          </p:cNvSpPr>
          <p:nvPr>
            <p:ph idx="1"/>
          </p:nvPr>
        </p:nvSpPr>
        <p:spPr/>
        <p:txBody>
          <a:bodyPr/>
          <a:lstStyle/>
          <a:p>
            <a:r>
              <a:rPr lang="en-MY" b="1" dirty="0">
                <a:solidFill>
                  <a:srgbClr val="0070C0"/>
                </a:solidFill>
              </a:rPr>
              <a:t>Set the Scope and Limitations</a:t>
            </a:r>
            <a:r>
              <a:rPr lang="en-MY" dirty="0">
                <a:solidFill>
                  <a:srgbClr val="0070C0"/>
                </a:solidFill>
              </a:rPr>
              <a:t>:</a:t>
            </a:r>
          </a:p>
          <a:p>
            <a:pPr lvl="1"/>
            <a:r>
              <a:rPr lang="en-MY" dirty="0"/>
              <a:t>Define the scope of your research, including what you will and will not cover.</a:t>
            </a:r>
          </a:p>
          <a:p>
            <a:pPr lvl="1"/>
            <a:r>
              <a:rPr lang="en-MY" dirty="0"/>
              <a:t>Mention any limitations that might affect your results or conclusions.</a:t>
            </a:r>
          </a:p>
          <a:p>
            <a:r>
              <a:rPr lang="en-MY" b="1" dirty="0">
                <a:solidFill>
                  <a:srgbClr val="0070C0"/>
                </a:solidFill>
              </a:rPr>
              <a:t>Conclude with Your Thesis Statement</a:t>
            </a:r>
            <a:r>
              <a:rPr lang="en-MY" dirty="0">
                <a:solidFill>
                  <a:srgbClr val="0070C0"/>
                </a:solidFill>
              </a:rPr>
              <a:t>:</a:t>
            </a:r>
          </a:p>
          <a:p>
            <a:pPr lvl="1"/>
            <a:r>
              <a:rPr lang="en-MY" dirty="0"/>
              <a:t>End your introduction with a clear and concise thesis statement that summarizes the main point or argument of your proposal.</a:t>
            </a:r>
          </a:p>
          <a:p>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5</a:t>
            </a:fld>
            <a:endParaRPr lang="ms-MY"/>
          </a:p>
        </p:txBody>
      </p:sp>
    </p:spTree>
    <p:extLst>
      <p:ext uri="{BB962C8B-B14F-4D97-AF65-F5344CB8AC3E}">
        <p14:creationId xmlns:p14="http://schemas.microsoft.com/office/powerpoint/2010/main" val="4186452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smtClean="0"/>
              <a:t>Introduction Example</a:t>
            </a:r>
            <a:endParaRPr lang="en-MY" dirty="0"/>
          </a:p>
        </p:txBody>
      </p:sp>
      <p:sp>
        <p:nvSpPr>
          <p:cNvPr id="3" name="Content Placeholder 2"/>
          <p:cNvSpPr>
            <a:spLocks noGrp="1"/>
          </p:cNvSpPr>
          <p:nvPr>
            <p:ph idx="1"/>
          </p:nvPr>
        </p:nvSpPr>
        <p:spPr/>
        <p:txBody>
          <a:bodyPr>
            <a:normAutofit/>
          </a:bodyPr>
          <a:lstStyle/>
          <a:p>
            <a:r>
              <a:rPr lang="en-MY" dirty="0">
                <a:solidFill>
                  <a:srgbClr val="FF0000"/>
                </a:solidFill>
              </a:rPr>
              <a:t>The rapid advancement of artificial intelligence (AI) has revolutionized various industries, from healthcare to finance. However, the integration of AI in cybersecurity remains a critical area that requires further exploration. This project aims to develop an AI-based intrusion detection system (IDS) to enhance the security of computer networks.</a:t>
            </a:r>
          </a:p>
          <a:p>
            <a:r>
              <a:rPr lang="en-MY" dirty="0">
                <a:solidFill>
                  <a:srgbClr val="00B050"/>
                </a:solidFill>
              </a:rPr>
              <a:t>Despite the availability of numerous IDS solutions, many systems struggle with high false positive rates, which overwhelm security teams and reduce their effectiveness. By leveraging machine learning algorithms, this research seeks to create a more accurate and efficient IDS that can adapt to new and evolving threats</a:t>
            </a:r>
            <a:r>
              <a:rPr lang="en-MY" dirty="0" smtClean="0"/>
              <a:t>.</a:t>
            </a:r>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6</a:t>
            </a:fld>
            <a:endParaRPr lang="ms-MY"/>
          </a:p>
        </p:txBody>
      </p:sp>
    </p:spTree>
    <p:extLst>
      <p:ext uri="{BB962C8B-B14F-4D97-AF65-F5344CB8AC3E}">
        <p14:creationId xmlns:p14="http://schemas.microsoft.com/office/powerpoint/2010/main" val="42511044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smtClean="0"/>
              <a:t>Introduction Example</a:t>
            </a:r>
            <a:endParaRPr lang="en-MY" dirty="0"/>
          </a:p>
        </p:txBody>
      </p:sp>
      <p:sp>
        <p:nvSpPr>
          <p:cNvPr id="3" name="Content Placeholder 2"/>
          <p:cNvSpPr>
            <a:spLocks noGrp="1"/>
          </p:cNvSpPr>
          <p:nvPr>
            <p:ph idx="1"/>
          </p:nvPr>
        </p:nvSpPr>
        <p:spPr/>
        <p:txBody>
          <a:bodyPr>
            <a:normAutofit/>
          </a:bodyPr>
          <a:lstStyle/>
          <a:p>
            <a:r>
              <a:rPr lang="en-MY" dirty="0">
                <a:solidFill>
                  <a:srgbClr val="00B0F0"/>
                </a:solidFill>
              </a:rPr>
              <a:t>The objectives of this study are to </a:t>
            </a:r>
            <a:r>
              <a:rPr lang="en-MY" dirty="0" err="1">
                <a:solidFill>
                  <a:srgbClr val="00B0F0"/>
                </a:solidFill>
              </a:rPr>
              <a:t>analyze</a:t>
            </a:r>
            <a:r>
              <a:rPr lang="en-MY" dirty="0">
                <a:solidFill>
                  <a:srgbClr val="00B0F0"/>
                </a:solidFill>
              </a:rPr>
              <a:t> existing IDS technologies, design and implement a machine learning model for intrusion detection, and evaluate its performance using real-world data. This research will contribute to the field of cybersecurity by providing a robust solution to detect and mitigate cyber threats more effectively.</a:t>
            </a:r>
          </a:p>
          <a:p>
            <a:r>
              <a:rPr lang="en-MY" dirty="0">
                <a:solidFill>
                  <a:srgbClr val="002060"/>
                </a:solidFill>
              </a:rPr>
              <a:t>This proposal is structured as follows: Chapter 1 provides an overview of the research background and objectives. Chapter 2 reviews the relevant literature on IDS and machine learning. Chapter 3 outlines the methodology used in this study. Chapter 4 presents the findings and analysis. Finally, Chapter 5 discusses the implications of the results and offers recommendations for future research</a:t>
            </a:r>
            <a:r>
              <a:rPr lang="en-MY" dirty="0" smtClean="0"/>
              <a:t>.</a:t>
            </a:r>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7</a:t>
            </a:fld>
            <a:endParaRPr lang="ms-MY"/>
          </a:p>
        </p:txBody>
      </p:sp>
    </p:spTree>
    <p:extLst>
      <p:ext uri="{BB962C8B-B14F-4D97-AF65-F5344CB8AC3E}">
        <p14:creationId xmlns:p14="http://schemas.microsoft.com/office/powerpoint/2010/main" val="27271201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smtClean="0"/>
              <a:t>Introduction Example</a:t>
            </a:r>
            <a:endParaRPr lang="en-MY" dirty="0"/>
          </a:p>
        </p:txBody>
      </p:sp>
      <p:sp>
        <p:nvSpPr>
          <p:cNvPr id="3" name="Content Placeholder 2"/>
          <p:cNvSpPr>
            <a:spLocks noGrp="1"/>
          </p:cNvSpPr>
          <p:nvPr>
            <p:ph idx="1"/>
          </p:nvPr>
        </p:nvSpPr>
        <p:spPr/>
        <p:txBody>
          <a:bodyPr>
            <a:normAutofit/>
          </a:bodyPr>
          <a:lstStyle/>
          <a:p>
            <a:r>
              <a:rPr lang="en-MY" dirty="0">
                <a:solidFill>
                  <a:srgbClr val="7030A0"/>
                </a:solidFill>
              </a:rPr>
              <a:t>By addressing these aspects, this research aims to enhance the security of computer networks and contribute to the broader understanding of AI applications in cybersecurity.</a:t>
            </a:r>
          </a:p>
        </p:txBody>
      </p:sp>
      <p:sp>
        <p:nvSpPr>
          <p:cNvPr id="4" name="Slide Number Placeholder 3"/>
          <p:cNvSpPr>
            <a:spLocks noGrp="1"/>
          </p:cNvSpPr>
          <p:nvPr>
            <p:ph type="sldNum" sz="quarter" idx="12"/>
          </p:nvPr>
        </p:nvSpPr>
        <p:spPr/>
        <p:txBody>
          <a:bodyPr/>
          <a:lstStyle/>
          <a:p>
            <a:fld id="{7E4255BD-13A2-4718-96FB-F348F7D160EB}" type="slidenum">
              <a:rPr lang="ms-MY" smtClean="0"/>
              <a:t>8</a:t>
            </a:fld>
            <a:endParaRPr lang="ms-MY"/>
          </a:p>
        </p:txBody>
      </p:sp>
    </p:spTree>
    <p:extLst>
      <p:ext uri="{BB962C8B-B14F-4D97-AF65-F5344CB8AC3E}">
        <p14:creationId xmlns:p14="http://schemas.microsoft.com/office/powerpoint/2010/main" val="936926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E4255BD-13A2-4718-96FB-F348F7D160EB}" type="slidenum">
              <a:rPr lang="ms-MY" smtClean="0"/>
              <a:t>9</a:t>
            </a:fld>
            <a:endParaRPr lang="ms-MY"/>
          </a:p>
        </p:txBody>
      </p:sp>
      <p:pic>
        <p:nvPicPr>
          <p:cNvPr id="4098" name="Picture 2" descr="Image result for there is no challenge more challenging than the challenge to improve yourself"/>
          <p:cNvPicPr>
            <a:picLocks noChangeAspect="1" noChangeArrowheads="1"/>
          </p:cNvPicPr>
          <p:nvPr/>
        </p:nvPicPr>
        <p:blipFill rotWithShape="1">
          <a:blip r:embed="rId2">
            <a:extLst>
              <a:ext uri="{28A0092B-C50C-407E-A947-70E740481C1C}">
                <a14:useLocalDpi xmlns:a14="http://schemas.microsoft.com/office/drawing/2010/main" val="0"/>
              </a:ext>
            </a:extLst>
          </a:blip>
          <a:srcRect r="7802"/>
          <a:stretch/>
        </p:blipFill>
        <p:spPr bwMode="auto">
          <a:xfrm>
            <a:off x="0" y="1"/>
            <a:ext cx="755724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challenge yourself extreme mountain climb mission impossi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7621" y="1"/>
            <a:ext cx="4564379"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05686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statement </a:t>
            </a:r>
            <a:endParaRPr lang="ms-MY" dirty="0"/>
          </a:p>
        </p:txBody>
      </p:sp>
      <p:sp>
        <p:nvSpPr>
          <p:cNvPr id="4" name="Slide Number Placeholder 3"/>
          <p:cNvSpPr>
            <a:spLocks noGrp="1"/>
          </p:cNvSpPr>
          <p:nvPr>
            <p:ph type="sldNum" sz="quarter" idx="12"/>
          </p:nvPr>
        </p:nvSpPr>
        <p:spPr/>
        <p:txBody>
          <a:bodyPr/>
          <a:lstStyle/>
          <a:p>
            <a:fld id="{7E4255BD-13A2-4718-96FB-F348F7D160EB}" type="slidenum">
              <a:rPr lang="ms-MY" smtClean="0"/>
              <a:t>10</a:t>
            </a:fld>
            <a:endParaRPr lang="ms-MY"/>
          </a:p>
        </p:txBody>
      </p:sp>
    </p:spTree>
    <p:extLst>
      <p:ext uri="{BB962C8B-B14F-4D97-AF65-F5344CB8AC3E}">
        <p14:creationId xmlns:p14="http://schemas.microsoft.com/office/powerpoint/2010/main" val="10624867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t>What is problem statement</a:t>
            </a:r>
          </a:p>
        </p:txBody>
      </p:sp>
      <p:sp>
        <p:nvSpPr>
          <p:cNvPr id="3" name="Content Placeholder 2"/>
          <p:cNvSpPr>
            <a:spLocks noGrp="1"/>
          </p:cNvSpPr>
          <p:nvPr>
            <p:ph idx="1"/>
          </p:nvPr>
        </p:nvSpPr>
        <p:spPr/>
        <p:txBody>
          <a:bodyPr/>
          <a:lstStyle/>
          <a:p>
            <a:r>
              <a:rPr lang="en-MY" dirty="0"/>
              <a:t>A problem statement in a final year project or undergraduate project proposal is a concise description of the specific issue that your research aims to address. It serves as the foundation for your entire project by clearly defining the problem and its significance. </a:t>
            </a:r>
          </a:p>
        </p:txBody>
      </p:sp>
      <p:sp>
        <p:nvSpPr>
          <p:cNvPr id="4" name="Slide Number Placeholder 3"/>
          <p:cNvSpPr>
            <a:spLocks noGrp="1"/>
          </p:cNvSpPr>
          <p:nvPr>
            <p:ph type="sldNum" sz="quarter" idx="12"/>
          </p:nvPr>
        </p:nvSpPr>
        <p:spPr/>
        <p:txBody>
          <a:bodyPr/>
          <a:lstStyle/>
          <a:p>
            <a:fld id="{7E4255BD-13A2-4718-96FB-F348F7D160EB}" type="slidenum">
              <a:rPr lang="ms-MY" smtClean="0"/>
              <a:t>11</a:t>
            </a:fld>
            <a:endParaRPr lang="ms-MY"/>
          </a:p>
        </p:txBody>
      </p:sp>
    </p:spTree>
    <p:extLst>
      <p:ext uri="{BB962C8B-B14F-4D97-AF65-F5344CB8AC3E}">
        <p14:creationId xmlns:p14="http://schemas.microsoft.com/office/powerpoint/2010/main" val="1124019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b="1" dirty="0"/>
              <a:t>Steps to Write a Problem </a:t>
            </a:r>
            <a:r>
              <a:rPr lang="en-MY" b="1" dirty="0" smtClean="0"/>
              <a:t>Statement</a:t>
            </a:r>
            <a:endParaRPr lang="en-MY" dirty="0"/>
          </a:p>
        </p:txBody>
      </p:sp>
      <p:sp>
        <p:nvSpPr>
          <p:cNvPr id="3" name="Content Placeholder 2"/>
          <p:cNvSpPr>
            <a:spLocks noGrp="1"/>
          </p:cNvSpPr>
          <p:nvPr>
            <p:ph idx="1"/>
          </p:nvPr>
        </p:nvSpPr>
        <p:spPr/>
        <p:txBody>
          <a:bodyPr/>
          <a:lstStyle/>
          <a:p>
            <a:r>
              <a:rPr lang="en-MY" b="1" dirty="0">
                <a:solidFill>
                  <a:srgbClr val="C00000"/>
                </a:solidFill>
              </a:rPr>
              <a:t>Contextualize the Problem</a:t>
            </a:r>
            <a:r>
              <a:rPr lang="en-MY" dirty="0">
                <a:solidFill>
                  <a:srgbClr val="C00000"/>
                </a:solidFill>
              </a:rPr>
              <a:t>:</a:t>
            </a:r>
          </a:p>
          <a:p>
            <a:pPr lvl="1"/>
            <a:r>
              <a:rPr lang="en-MY" dirty="0"/>
              <a:t>Provide background information to set the context for your research.</a:t>
            </a:r>
          </a:p>
          <a:p>
            <a:pPr lvl="1"/>
            <a:r>
              <a:rPr lang="en-MY" dirty="0"/>
              <a:t>Explain what is already known about the problem.</a:t>
            </a:r>
          </a:p>
          <a:p>
            <a:pPr lvl="1"/>
            <a:r>
              <a:rPr lang="en-MY" dirty="0"/>
              <a:t>Identify the gap in the current knowledge that your research will address.</a:t>
            </a:r>
          </a:p>
          <a:p>
            <a:r>
              <a:rPr lang="en-MY" b="1" dirty="0">
                <a:solidFill>
                  <a:srgbClr val="C00000"/>
                </a:solidFill>
              </a:rPr>
              <a:t>Describe the Exact Issue</a:t>
            </a:r>
            <a:r>
              <a:rPr lang="en-MY" dirty="0">
                <a:solidFill>
                  <a:srgbClr val="C00000"/>
                </a:solidFill>
              </a:rPr>
              <a:t>:</a:t>
            </a:r>
          </a:p>
          <a:p>
            <a:pPr lvl="1"/>
            <a:r>
              <a:rPr lang="en-MY" dirty="0"/>
              <a:t>Clearly state the specific problem your research will tackle.</a:t>
            </a:r>
          </a:p>
          <a:p>
            <a:pPr lvl="1"/>
            <a:r>
              <a:rPr lang="en-MY" dirty="0"/>
              <a:t>Mention who is affected by this problem and where it occurs.</a:t>
            </a:r>
          </a:p>
          <a:p>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12</a:t>
            </a:fld>
            <a:endParaRPr lang="ms-MY"/>
          </a:p>
        </p:txBody>
      </p:sp>
    </p:spTree>
    <p:extLst>
      <p:ext uri="{BB962C8B-B14F-4D97-AF65-F5344CB8AC3E}">
        <p14:creationId xmlns:p14="http://schemas.microsoft.com/office/powerpoint/2010/main" val="5124158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MY" b="1" dirty="0"/>
              <a:t>Steps to Write a Problem </a:t>
            </a:r>
            <a:r>
              <a:rPr lang="en-MY" b="1" dirty="0" smtClean="0"/>
              <a:t>Statement</a:t>
            </a:r>
            <a:endParaRPr lang="en-MY" dirty="0"/>
          </a:p>
        </p:txBody>
      </p:sp>
      <p:sp>
        <p:nvSpPr>
          <p:cNvPr id="3" name="Content Placeholder 2"/>
          <p:cNvSpPr>
            <a:spLocks noGrp="1"/>
          </p:cNvSpPr>
          <p:nvPr>
            <p:ph idx="1"/>
          </p:nvPr>
        </p:nvSpPr>
        <p:spPr/>
        <p:txBody>
          <a:bodyPr/>
          <a:lstStyle/>
          <a:p>
            <a:r>
              <a:rPr lang="en-MY" b="1" dirty="0">
                <a:solidFill>
                  <a:srgbClr val="C00000"/>
                </a:solidFill>
              </a:rPr>
              <a:t>Show the Relevance of the Problem</a:t>
            </a:r>
            <a:r>
              <a:rPr lang="en-MY" dirty="0">
                <a:solidFill>
                  <a:srgbClr val="C00000"/>
                </a:solidFill>
              </a:rPr>
              <a:t>:</a:t>
            </a:r>
          </a:p>
          <a:p>
            <a:pPr lvl="1"/>
            <a:r>
              <a:rPr lang="en-MY" dirty="0"/>
              <a:t>Explain why it is important to solve this problem.</a:t>
            </a:r>
          </a:p>
          <a:p>
            <a:pPr lvl="1"/>
            <a:r>
              <a:rPr lang="en-MY" dirty="0"/>
              <a:t>Discuss the potential consequences if the problem is not addressed.</a:t>
            </a:r>
          </a:p>
          <a:p>
            <a:r>
              <a:rPr lang="en-MY" b="1" dirty="0">
                <a:solidFill>
                  <a:srgbClr val="C00000"/>
                </a:solidFill>
              </a:rPr>
              <a:t>Set Your Aims and Objectives</a:t>
            </a:r>
            <a:r>
              <a:rPr lang="en-MY" dirty="0">
                <a:solidFill>
                  <a:srgbClr val="C00000"/>
                </a:solidFill>
              </a:rPr>
              <a:t>:</a:t>
            </a:r>
          </a:p>
          <a:p>
            <a:pPr lvl="1"/>
            <a:r>
              <a:rPr lang="en-MY" dirty="0"/>
              <a:t>Outline what you intend to achieve with your research.</a:t>
            </a:r>
          </a:p>
          <a:p>
            <a:pPr lvl="1"/>
            <a:r>
              <a:rPr lang="en-MY" dirty="0"/>
              <a:t>Describe the goals and objectives that will guide your study.</a:t>
            </a:r>
          </a:p>
          <a:p>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13</a:t>
            </a:fld>
            <a:endParaRPr lang="ms-MY"/>
          </a:p>
        </p:txBody>
      </p:sp>
    </p:spTree>
    <p:extLst>
      <p:ext uri="{BB962C8B-B14F-4D97-AF65-F5344CB8AC3E}">
        <p14:creationId xmlns:p14="http://schemas.microsoft.com/office/powerpoint/2010/main" val="4181946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a:t>Problem Statement </a:t>
            </a:r>
            <a:r>
              <a:rPr lang="en-MY" b="1" dirty="0" smtClean="0"/>
              <a:t>Example</a:t>
            </a:r>
            <a:endParaRPr lang="en-MY" dirty="0"/>
          </a:p>
        </p:txBody>
      </p:sp>
      <p:sp>
        <p:nvSpPr>
          <p:cNvPr id="3" name="Content Placeholder 2"/>
          <p:cNvSpPr>
            <a:spLocks noGrp="1"/>
          </p:cNvSpPr>
          <p:nvPr>
            <p:ph idx="1"/>
          </p:nvPr>
        </p:nvSpPr>
        <p:spPr/>
        <p:txBody>
          <a:bodyPr/>
          <a:lstStyle/>
          <a:p>
            <a:r>
              <a:rPr lang="en-MY" b="1" dirty="0">
                <a:solidFill>
                  <a:srgbClr val="C00000"/>
                </a:solidFill>
              </a:rPr>
              <a:t>Contextualize the Problem</a:t>
            </a:r>
            <a:r>
              <a:rPr lang="en-MY" dirty="0"/>
              <a:t>: In recent years, the rise of cyber-attacks has become a significant concern for organizations worldwide. Despite advancements in cybersecurity measures, many systems remain vulnerable to sophisticated attacks, leading to data breaches and financial losses.</a:t>
            </a:r>
          </a:p>
          <a:p>
            <a:r>
              <a:rPr lang="en-MY" b="1" dirty="0">
                <a:solidFill>
                  <a:srgbClr val="C00000"/>
                </a:solidFill>
              </a:rPr>
              <a:t>Describe the Exact Issue</a:t>
            </a:r>
            <a:r>
              <a:rPr lang="en-MY" dirty="0"/>
              <a:t>: One of the critical issues is the lack of effective intrusion detection systems (IDS) that can accurately identify and respond to new and evolving threats. Current IDS solutions often generate a high number of false positives, overwhelming security teams and reducing their effectiveness.</a:t>
            </a:r>
          </a:p>
          <a:p>
            <a:r>
              <a:rPr lang="en-MY" b="1" dirty="0">
                <a:solidFill>
                  <a:srgbClr val="C00000"/>
                </a:solidFill>
              </a:rPr>
              <a:t>Show the Relevance of the Problem</a:t>
            </a:r>
            <a:r>
              <a:rPr lang="en-MY" dirty="0"/>
              <a:t>: If this problem is not addressed, organizations will continue to suffer from data breaches, resulting in loss of sensitive information, financial damage, and reputational harm. Improving the accuracy and efficiency of IDS is crucial for enhancing overall cybersecurity</a:t>
            </a:r>
            <a:r>
              <a:rPr lang="en-MY" dirty="0" smtClean="0"/>
              <a:t>.</a:t>
            </a:r>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14</a:t>
            </a:fld>
            <a:endParaRPr lang="ms-MY"/>
          </a:p>
        </p:txBody>
      </p:sp>
    </p:spTree>
    <p:extLst>
      <p:ext uri="{BB962C8B-B14F-4D97-AF65-F5344CB8AC3E}">
        <p14:creationId xmlns:p14="http://schemas.microsoft.com/office/powerpoint/2010/main" val="3735828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a:t>Problem Statement Example</a:t>
            </a:r>
            <a:endParaRPr lang="en-MY" dirty="0"/>
          </a:p>
        </p:txBody>
      </p:sp>
      <p:sp>
        <p:nvSpPr>
          <p:cNvPr id="3" name="Content Placeholder 2"/>
          <p:cNvSpPr>
            <a:spLocks noGrp="1"/>
          </p:cNvSpPr>
          <p:nvPr>
            <p:ph idx="1"/>
          </p:nvPr>
        </p:nvSpPr>
        <p:spPr/>
        <p:txBody>
          <a:bodyPr/>
          <a:lstStyle/>
          <a:p>
            <a:r>
              <a:rPr lang="en-MY" b="1" dirty="0">
                <a:solidFill>
                  <a:srgbClr val="C00000"/>
                </a:solidFill>
              </a:rPr>
              <a:t>Set Your Aims and Objectives</a:t>
            </a:r>
            <a:r>
              <a:rPr lang="en-MY" dirty="0"/>
              <a:t>: This research aims to develop a machine learning-based intrusion detection system that can accurately detect and respond to cyber threats in real-time. The objectives are to:</a:t>
            </a:r>
          </a:p>
          <a:p>
            <a:r>
              <a:rPr lang="en-MY" dirty="0" err="1"/>
              <a:t>Analyze</a:t>
            </a:r>
            <a:r>
              <a:rPr lang="en-MY" dirty="0"/>
              <a:t> existing IDS solutions and their limitations.</a:t>
            </a:r>
          </a:p>
          <a:p>
            <a:r>
              <a:rPr lang="en-MY" dirty="0"/>
              <a:t>Design and implement a machine learning model to improve detection accuracy.</a:t>
            </a:r>
          </a:p>
          <a:p>
            <a:r>
              <a:rPr lang="en-MY" dirty="0"/>
              <a:t>Evaluate the performance of the proposed system using real-world data.</a:t>
            </a:r>
          </a:p>
          <a:p>
            <a:r>
              <a:rPr lang="en-MY" dirty="0"/>
              <a:t>Provide recommendations for integrating the system into existing security infrastructures.</a:t>
            </a:r>
          </a:p>
          <a:p>
            <a:endParaRPr lang="en-MY" dirty="0"/>
          </a:p>
        </p:txBody>
      </p:sp>
      <p:sp>
        <p:nvSpPr>
          <p:cNvPr id="4" name="Slide Number Placeholder 3"/>
          <p:cNvSpPr>
            <a:spLocks noGrp="1"/>
          </p:cNvSpPr>
          <p:nvPr>
            <p:ph type="sldNum" sz="quarter" idx="12"/>
          </p:nvPr>
        </p:nvSpPr>
        <p:spPr/>
        <p:txBody>
          <a:bodyPr/>
          <a:lstStyle/>
          <a:p>
            <a:fld id="{7E4255BD-13A2-4718-96FB-F348F7D160EB}" type="slidenum">
              <a:rPr lang="ms-MY" smtClean="0"/>
              <a:t>15</a:t>
            </a:fld>
            <a:endParaRPr lang="ms-MY"/>
          </a:p>
        </p:txBody>
      </p:sp>
    </p:spTree>
    <p:extLst>
      <p:ext uri="{BB962C8B-B14F-4D97-AF65-F5344CB8AC3E}">
        <p14:creationId xmlns:p14="http://schemas.microsoft.com/office/powerpoint/2010/main" val="256550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a:t>
            </a:r>
            <a:endParaRPr lang="en-US" dirty="0"/>
          </a:p>
        </p:txBody>
      </p:sp>
      <p:sp>
        <p:nvSpPr>
          <p:cNvPr id="3" name="Content Placeholder 2"/>
          <p:cNvSpPr>
            <a:spLocks noGrp="1"/>
          </p:cNvSpPr>
          <p:nvPr>
            <p:ph idx="1"/>
          </p:nvPr>
        </p:nvSpPr>
        <p:spPr/>
        <p:txBody>
          <a:bodyPr>
            <a:normAutofit/>
          </a:bodyPr>
          <a:lstStyle/>
          <a:p>
            <a:pPr marL="0" indent="0">
              <a:buNone/>
            </a:pPr>
            <a:r>
              <a:rPr lang="en-US" sz="2200" dirty="0" smtClean="0"/>
              <a:t>At a minimum, a problem statement should include:</a:t>
            </a:r>
          </a:p>
          <a:p>
            <a:r>
              <a:rPr lang="en-US" sz="2200" dirty="0">
                <a:solidFill>
                  <a:srgbClr val="00B050"/>
                </a:solidFill>
              </a:rPr>
              <a:t>Where </a:t>
            </a:r>
            <a:r>
              <a:rPr lang="en-US" sz="2200" dirty="0"/>
              <a:t>is the problem?</a:t>
            </a:r>
          </a:p>
          <a:p>
            <a:r>
              <a:rPr lang="en-US" sz="2200" dirty="0" smtClean="0">
                <a:solidFill>
                  <a:srgbClr val="FF0000"/>
                </a:solidFill>
              </a:rPr>
              <a:t>What</a:t>
            </a:r>
            <a:r>
              <a:rPr lang="en-US" sz="2200" dirty="0" smtClean="0"/>
              <a:t> is the problem or defect?</a:t>
            </a:r>
          </a:p>
          <a:p>
            <a:r>
              <a:rPr lang="en-US" sz="2200" dirty="0" smtClean="0">
                <a:solidFill>
                  <a:srgbClr val="0070C0"/>
                </a:solidFill>
              </a:rPr>
              <a:t>Magnitude </a:t>
            </a:r>
            <a:r>
              <a:rPr lang="en-US" sz="2200" dirty="0" smtClean="0"/>
              <a:t>of the problem (events, how, often, etc.)?</a:t>
            </a:r>
          </a:p>
          <a:p>
            <a:r>
              <a:rPr lang="en-US" sz="2200" dirty="0" smtClean="0">
                <a:solidFill>
                  <a:srgbClr val="FFC000"/>
                </a:solidFill>
              </a:rPr>
              <a:t>Why </a:t>
            </a:r>
            <a:r>
              <a:rPr lang="en-US" sz="2200" dirty="0" smtClean="0"/>
              <a:t>is it important to work on this problem?</a:t>
            </a:r>
          </a:p>
          <a:p>
            <a:endParaRPr lang="en-US" sz="2200" dirty="0"/>
          </a:p>
        </p:txBody>
      </p:sp>
      <p:sp>
        <p:nvSpPr>
          <p:cNvPr id="4" name="Slide Number Placeholder 3"/>
          <p:cNvSpPr>
            <a:spLocks noGrp="1"/>
          </p:cNvSpPr>
          <p:nvPr>
            <p:ph type="sldNum" sz="quarter" idx="12"/>
          </p:nvPr>
        </p:nvSpPr>
        <p:spPr/>
        <p:txBody>
          <a:bodyPr/>
          <a:lstStyle/>
          <a:p>
            <a:fld id="{7E4255BD-13A2-4718-96FB-F348F7D160EB}" type="slidenum">
              <a:rPr lang="ms-MY" smtClean="0"/>
              <a:t>16</a:t>
            </a:fld>
            <a:endParaRPr lang="ms-MY"/>
          </a:p>
        </p:txBody>
      </p:sp>
    </p:spTree>
    <p:extLst>
      <p:ext uri="{BB962C8B-B14F-4D97-AF65-F5344CB8AC3E}">
        <p14:creationId xmlns:p14="http://schemas.microsoft.com/office/powerpoint/2010/main" val="21140421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Example 1: problem statement (problem based)</a:t>
            </a:r>
            <a:endParaRPr lang="en-US" dirty="0"/>
          </a:p>
        </p:txBody>
      </p:sp>
      <p:sp>
        <p:nvSpPr>
          <p:cNvPr id="3" name="Content Placeholder 2"/>
          <p:cNvSpPr>
            <a:spLocks noGrp="1"/>
          </p:cNvSpPr>
          <p:nvPr>
            <p:ph idx="1"/>
          </p:nvPr>
        </p:nvSpPr>
        <p:spPr>
          <a:xfrm>
            <a:off x="1069848" y="2121408"/>
            <a:ext cx="10058400" cy="4355592"/>
          </a:xfrm>
        </p:spPr>
        <p:txBody>
          <a:bodyPr>
            <a:normAutofit/>
          </a:bodyPr>
          <a:lstStyle/>
          <a:p>
            <a:pPr marL="0" indent="0" algn="just">
              <a:buNone/>
            </a:pPr>
            <a:r>
              <a:rPr lang="en-US" sz="2400" dirty="0" smtClean="0">
                <a:solidFill>
                  <a:srgbClr val="00B050"/>
                </a:solidFill>
              </a:rPr>
              <a:t>UMP had implemented open registration (OR) system since year 2013/14. </a:t>
            </a:r>
            <a:r>
              <a:rPr lang="en-US" sz="2400" dirty="0" smtClean="0">
                <a:solidFill>
                  <a:srgbClr val="FF0000"/>
                </a:solidFill>
              </a:rPr>
              <a:t>There have been a lot of negative feedback from students. Some of the negative feedback include unable to register courses due to full capacity and clashes among students</a:t>
            </a:r>
            <a:r>
              <a:rPr lang="en-US" sz="2400" dirty="0" smtClean="0"/>
              <a:t>. </a:t>
            </a:r>
            <a:r>
              <a:rPr lang="en-US" sz="2400" dirty="0" smtClean="0">
                <a:solidFill>
                  <a:srgbClr val="0070C0"/>
                </a:solidFill>
              </a:rPr>
              <a:t>As a result, the students able to only register minimum credit (≤ 15 credit) per semester and this would resulting in the student unable to finish their study on time</a:t>
            </a:r>
            <a:r>
              <a:rPr lang="en-US" sz="2400" dirty="0" smtClean="0"/>
              <a:t>. </a:t>
            </a:r>
            <a:r>
              <a:rPr lang="en-US" sz="2400" dirty="0" smtClean="0">
                <a:solidFill>
                  <a:srgbClr val="FFC000"/>
                </a:solidFill>
              </a:rPr>
              <a:t>A quality course timetable is important in order to achieve the university KPI (e.g. graduate on Time, graduate employability)</a:t>
            </a:r>
          </a:p>
          <a:p>
            <a:pPr marL="0" indent="0" algn="just">
              <a:buNone/>
            </a:pPr>
            <a:endParaRPr lang="en-US" sz="2400" dirty="0" smtClean="0"/>
          </a:p>
          <a:p>
            <a:pPr algn="just">
              <a:spcBef>
                <a:spcPts val="0"/>
              </a:spcBef>
            </a:pPr>
            <a:r>
              <a:rPr lang="en-US" sz="1600" dirty="0">
                <a:solidFill>
                  <a:srgbClr val="00B050"/>
                </a:solidFill>
              </a:rPr>
              <a:t>Where is the problem?</a:t>
            </a:r>
          </a:p>
          <a:p>
            <a:pPr algn="just">
              <a:spcBef>
                <a:spcPts val="0"/>
              </a:spcBef>
            </a:pPr>
            <a:r>
              <a:rPr lang="en-US" sz="1600" dirty="0" smtClean="0">
                <a:solidFill>
                  <a:srgbClr val="FF0000"/>
                </a:solidFill>
              </a:rPr>
              <a:t>What is the problem? </a:t>
            </a:r>
          </a:p>
          <a:p>
            <a:pPr algn="just">
              <a:spcBef>
                <a:spcPts val="0"/>
              </a:spcBef>
            </a:pPr>
            <a:r>
              <a:rPr lang="en-US" sz="1600" dirty="0" smtClean="0">
                <a:solidFill>
                  <a:srgbClr val="0070C0"/>
                </a:solidFill>
              </a:rPr>
              <a:t>Magnitude of the problem?</a:t>
            </a:r>
          </a:p>
          <a:p>
            <a:pPr algn="just">
              <a:spcBef>
                <a:spcPts val="0"/>
              </a:spcBef>
            </a:pPr>
            <a:r>
              <a:rPr lang="en-US" sz="1600" dirty="0" smtClean="0">
                <a:solidFill>
                  <a:srgbClr val="FFC000"/>
                </a:solidFill>
              </a:rPr>
              <a:t>Why is it important?</a:t>
            </a:r>
            <a:endParaRPr lang="en-US" sz="1600" dirty="0">
              <a:solidFill>
                <a:srgbClr val="FFC000"/>
              </a:solidFill>
            </a:endParaRPr>
          </a:p>
        </p:txBody>
      </p:sp>
      <p:sp>
        <p:nvSpPr>
          <p:cNvPr id="4" name="Slide Number Placeholder 3"/>
          <p:cNvSpPr>
            <a:spLocks noGrp="1"/>
          </p:cNvSpPr>
          <p:nvPr>
            <p:ph type="sldNum" sz="quarter" idx="12"/>
          </p:nvPr>
        </p:nvSpPr>
        <p:spPr/>
        <p:txBody>
          <a:bodyPr/>
          <a:lstStyle/>
          <a:p>
            <a:fld id="{7E4255BD-13A2-4718-96FB-F348F7D160EB}" type="slidenum">
              <a:rPr lang="ms-MY" smtClean="0"/>
              <a:t>17</a:t>
            </a:fld>
            <a:endParaRPr lang="ms-MY"/>
          </a:p>
        </p:txBody>
      </p:sp>
    </p:spTree>
    <p:extLst>
      <p:ext uri="{BB962C8B-B14F-4D97-AF65-F5344CB8AC3E}">
        <p14:creationId xmlns:p14="http://schemas.microsoft.com/office/powerpoint/2010/main" val="13931381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 </a:t>
            </a:r>
            <a:r>
              <a:rPr lang="en-US" dirty="0" smtClean="0"/>
              <a:t>2: </a:t>
            </a:r>
            <a:r>
              <a:rPr lang="en-US" dirty="0"/>
              <a:t>problem statement </a:t>
            </a:r>
            <a:r>
              <a:rPr lang="en-US" dirty="0" smtClean="0"/>
              <a:t>(Technique/method based</a:t>
            </a:r>
            <a:r>
              <a:rPr lang="en-US" dirty="0"/>
              <a:t>)</a:t>
            </a:r>
          </a:p>
        </p:txBody>
      </p:sp>
      <p:sp>
        <p:nvSpPr>
          <p:cNvPr id="3" name="Content Placeholder 2"/>
          <p:cNvSpPr>
            <a:spLocks noGrp="1"/>
          </p:cNvSpPr>
          <p:nvPr>
            <p:ph idx="1"/>
          </p:nvPr>
        </p:nvSpPr>
        <p:spPr/>
        <p:txBody>
          <a:bodyPr>
            <a:normAutofit fontScale="92500" lnSpcReduction="20000"/>
          </a:bodyPr>
          <a:lstStyle/>
          <a:p>
            <a:pPr marL="0" indent="0" algn="just">
              <a:buNone/>
            </a:pPr>
            <a:r>
              <a:rPr lang="en-US" sz="2400" dirty="0" smtClean="0">
                <a:solidFill>
                  <a:srgbClr val="00B050"/>
                </a:solidFill>
              </a:rPr>
              <a:t>The Hill climbing is a meta-heuristics technique and popular because of it simplicity and straightforward technique. It have been successfully applied in many NP problem (e.g. TSP, VRP, timetabling)</a:t>
            </a:r>
            <a:r>
              <a:rPr lang="en-US" sz="2400" dirty="0" smtClean="0"/>
              <a:t>.</a:t>
            </a:r>
            <a:r>
              <a:rPr lang="en-US" sz="2400" dirty="0" smtClean="0">
                <a:solidFill>
                  <a:srgbClr val="00B050"/>
                </a:solidFill>
              </a:rPr>
              <a:t> </a:t>
            </a:r>
            <a:r>
              <a:rPr lang="en-US" sz="2400" dirty="0" smtClean="0">
                <a:solidFill>
                  <a:srgbClr val="FF0000"/>
                </a:solidFill>
              </a:rPr>
              <a:t>However, Hill climbing lack of exploration feature and this cause it to easily trap in a local optimal</a:t>
            </a:r>
            <a:r>
              <a:rPr lang="en-US" sz="2400" dirty="0" smtClean="0"/>
              <a:t>. </a:t>
            </a:r>
            <a:r>
              <a:rPr lang="en-US" sz="2400" dirty="0" smtClean="0">
                <a:solidFill>
                  <a:srgbClr val="FF0000"/>
                </a:solidFill>
              </a:rPr>
              <a:t>Having no mechanism to escape from the local optima, Hill climbing unable to explore other promising search area</a:t>
            </a:r>
            <a:r>
              <a:rPr lang="en-US" sz="2400" dirty="0" smtClean="0">
                <a:solidFill>
                  <a:srgbClr val="0070C0"/>
                </a:solidFill>
              </a:rPr>
              <a:t>. This resulting in a poor quality solution when compared other meta-heuristic techniques (e.g. SA, GA, PSO, ACO).</a:t>
            </a:r>
            <a:r>
              <a:rPr lang="en-US" sz="2400" dirty="0" smtClean="0"/>
              <a:t> </a:t>
            </a:r>
            <a:r>
              <a:rPr lang="en-US" sz="2400" dirty="0" smtClean="0">
                <a:solidFill>
                  <a:srgbClr val="FFC000"/>
                </a:solidFill>
              </a:rPr>
              <a:t>Hill </a:t>
            </a:r>
            <a:r>
              <a:rPr lang="en-US" sz="2400" dirty="0">
                <a:solidFill>
                  <a:srgbClr val="FFC000"/>
                </a:solidFill>
              </a:rPr>
              <a:t>climbing </a:t>
            </a:r>
            <a:r>
              <a:rPr lang="en-US" sz="2400" dirty="0" smtClean="0">
                <a:solidFill>
                  <a:srgbClr val="FFC000"/>
                </a:solidFill>
              </a:rPr>
              <a:t>is </a:t>
            </a:r>
            <a:r>
              <a:rPr lang="en-US" sz="2400" dirty="0">
                <a:solidFill>
                  <a:srgbClr val="FFC000"/>
                </a:solidFill>
              </a:rPr>
              <a:t>simple and straightforward method is not easy to come by </a:t>
            </a:r>
            <a:r>
              <a:rPr lang="en-US" sz="2400" dirty="0" smtClean="0">
                <a:solidFill>
                  <a:srgbClr val="FFC000"/>
                </a:solidFill>
              </a:rPr>
              <a:t>when </a:t>
            </a:r>
            <a:r>
              <a:rPr lang="en-US" sz="2400" dirty="0">
                <a:solidFill>
                  <a:srgbClr val="FFC000"/>
                </a:solidFill>
              </a:rPr>
              <a:t>compared to </a:t>
            </a:r>
            <a:r>
              <a:rPr lang="en-US" sz="2400" dirty="0" smtClean="0">
                <a:solidFill>
                  <a:srgbClr val="FFC000"/>
                </a:solidFill>
              </a:rPr>
              <a:t>other complex methods (e.g. SA</a:t>
            </a:r>
            <a:r>
              <a:rPr lang="en-US" sz="2400" dirty="0">
                <a:solidFill>
                  <a:srgbClr val="FFC000"/>
                </a:solidFill>
              </a:rPr>
              <a:t>, GA, PSO, ACO</a:t>
            </a:r>
            <a:r>
              <a:rPr lang="en-US" sz="2400" dirty="0" smtClean="0">
                <a:solidFill>
                  <a:srgbClr val="FFC000"/>
                </a:solidFill>
              </a:rPr>
              <a:t>). Additionally, hill-climbing </a:t>
            </a:r>
            <a:r>
              <a:rPr lang="en-US" sz="2400" dirty="0">
                <a:solidFill>
                  <a:srgbClr val="FFC000"/>
                </a:solidFill>
              </a:rPr>
              <a:t>have been proven able to produce good solution and solve variety of problems. </a:t>
            </a:r>
            <a:endParaRPr lang="en-US" sz="2400" dirty="0" smtClean="0">
              <a:solidFill>
                <a:srgbClr val="FFC000"/>
              </a:solidFill>
            </a:endParaRPr>
          </a:p>
          <a:p>
            <a:pPr marL="0" indent="0" algn="just">
              <a:buNone/>
            </a:pPr>
            <a:endParaRPr lang="en-US" dirty="0"/>
          </a:p>
          <a:p>
            <a:pPr algn="just">
              <a:lnSpc>
                <a:spcPct val="120000"/>
              </a:lnSpc>
              <a:spcBef>
                <a:spcPts val="0"/>
              </a:spcBef>
            </a:pPr>
            <a:r>
              <a:rPr lang="en-US" sz="1700" dirty="0">
                <a:solidFill>
                  <a:srgbClr val="00B050"/>
                </a:solidFill>
              </a:rPr>
              <a:t>Where is the problem?</a:t>
            </a:r>
          </a:p>
          <a:p>
            <a:pPr algn="just">
              <a:lnSpc>
                <a:spcPct val="120000"/>
              </a:lnSpc>
              <a:spcBef>
                <a:spcPts val="0"/>
              </a:spcBef>
            </a:pPr>
            <a:r>
              <a:rPr lang="en-US" sz="1700" dirty="0" smtClean="0">
                <a:solidFill>
                  <a:srgbClr val="FF0000"/>
                </a:solidFill>
              </a:rPr>
              <a:t>What </a:t>
            </a:r>
            <a:r>
              <a:rPr lang="en-US" sz="1700" dirty="0">
                <a:solidFill>
                  <a:srgbClr val="FF0000"/>
                </a:solidFill>
              </a:rPr>
              <a:t>is the problem? </a:t>
            </a:r>
          </a:p>
          <a:p>
            <a:pPr algn="just">
              <a:lnSpc>
                <a:spcPct val="120000"/>
              </a:lnSpc>
              <a:spcBef>
                <a:spcPts val="0"/>
              </a:spcBef>
            </a:pPr>
            <a:r>
              <a:rPr lang="en-US" sz="1700" dirty="0">
                <a:solidFill>
                  <a:srgbClr val="0070C0"/>
                </a:solidFill>
              </a:rPr>
              <a:t>Magnitude of the problem?</a:t>
            </a:r>
          </a:p>
          <a:p>
            <a:pPr algn="just">
              <a:lnSpc>
                <a:spcPct val="120000"/>
              </a:lnSpc>
              <a:spcBef>
                <a:spcPts val="0"/>
              </a:spcBef>
            </a:pPr>
            <a:r>
              <a:rPr lang="en-US" sz="1700" dirty="0" smtClean="0">
                <a:solidFill>
                  <a:srgbClr val="FFC000"/>
                </a:solidFill>
              </a:rPr>
              <a:t>Why </a:t>
            </a:r>
            <a:r>
              <a:rPr lang="en-US" sz="1700" dirty="0">
                <a:solidFill>
                  <a:srgbClr val="FFC000"/>
                </a:solidFill>
              </a:rPr>
              <a:t>is it important</a:t>
            </a:r>
            <a:r>
              <a:rPr lang="en-US" sz="1700" dirty="0" smtClean="0">
                <a:solidFill>
                  <a:srgbClr val="FFC000"/>
                </a:solidFill>
              </a:rPr>
              <a:t>?</a:t>
            </a:r>
            <a:endParaRPr lang="en-US" sz="1700" dirty="0">
              <a:solidFill>
                <a:srgbClr val="FFC000"/>
              </a:solidFill>
            </a:endParaRPr>
          </a:p>
        </p:txBody>
      </p:sp>
      <p:sp>
        <p:nvSpPr>
          <p:cNvPr id="4" name="Slide Number Placeholder 3"/>
          <p:cNvSpPr>
            <a:spLocks noGrp="1"/>
          </p:cNvSpPr>
          <p:nvPr>
            <p:ph type="sldNum" sz="quarter" idx="12"/>
          </p:nvPr>
        </p:nvSpPr>
        <p:spPr/>
        <p:txBody>
          <a:bodyPr/>
          <a:lstStyle/>
          <a:p>
            <a:fld id="{7E4255BD-13A2-4718-96FB-F348F7D160EB}" type="slidenum">
              <a:rPr lang="ms-MY" smtClean="0"/>
              <a:t>18</a:t>
            </a:fld>
            <a:endParaRPr lang="ms-MY"/>
          </a:p>
        </p:txBody>
      </p:sp>
    </p:spTree>
    <p:extLst>
      <p:ext uri="{BB962C8B-B14F-4D97-AF65-F5344CB8AC3E}">
        <p14:creationId xmlns:p14="http://schemas.microsoft.com/office/powerpoint/2010/main" val="11817469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E4255BD-13A2-4718-96FB-F348F7D160EB}" type="slidenum">
              <a:rPr lang="ms-MY" smtClean="0"/>
              <a:t>19</a:t>
            </a:fld>
            <a:endParaRPr lang="ms-MY"/>
          </a:p>
        </p:txBody>
      </p:sp>
      <p:graphicFrame>
        <p:nvGraphicFramePr>
          <p:cNvPr id="3" name="Diagram 2"/>
          <p:cNvGraphicFramePr/>
          <p:nvPr>
            <p:extLst>
              <p:ext uri="{D42A27DB-BD31-4B8C-83A1-F6EECF244321}">
                <p14:modId xmlns:p14="http://schemas.microsoft.com/office/powerpoint/2010/main" val="2400557131"/>
              </p:ext>
            </p:extLst>
          </p:nvPr>
        </p:nvGraphicFramePr>
        <p:xfrm>
          <a:off x="-103522" y="0"/>
          <a:ext cx="7767065"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Image result for finding root cause quot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84753" y="214312"/>
            <a:ext cx="4286250" cy="642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8320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objective</a:t>
            </a:r>
            <a:endParaRPr lang="en-US" dirty="0"/>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7E4255BD-13A2-4718-96FB-F348F7D160EB}" type="slidenum">
              <a:rPr lang="ms-MY" smtClean="0"/>
              <a:t>20</a:t>
            </a:fld>
            <a:endParaRPr lang="ms-MY"/>
          </a:p>
        </p:txBody>
      </p:sp>
    </p:spTree>
    <p:extLst>
      <p:ext uri="{BB962C8B-B14F-4D97-AF65-F5344CB8AC3E}">
        <p14:creationId xmlns:p14="http://schemas.microsoft.com/office/powerpoint/2010/main" val="9872846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Research objective</a:t>
            </a:r>
            <a:endParaRPr lang="en-US" dirty="0"/>
          </a:p>
        </p:txBody>
      </p:sp>
      <p:sp>
        <p:nvSpPr>
          <p:cNvPr id="3" name="Content Placeholder 2"/>
          <p:cNvSpPr>
            <a:spLocks noGrp="1"/>
          </p:cNvSpPr>
          <p:nvPr>
            <p:ph idx="1"/>
          </p:nvPr>
        </p:nvSpPr>
        <p:spPr>
          <a:xfrm>
            <a:off x="1069848" y="2093976"/>
            <a:ext cx="10058400" cy="4078224"/>
          </a:xfrm>
        </p:spPr>
        <p:txBody>
          <a:bodyPr>
            <a:noAutofit/>
          </a:bodyPr>
          <a:lstStyle/>
          <a:p>
            <a:pPr>
              <a:lnSpc>
                <a:spcPct val="100000"/>
              </a:lnSpc>
              <a:spcBef>
                <a:spcPts val="600"/>
              </a:spcBef>
            </a:pPr>
            <a:r>
              <a:rPr lang="en-US" dirty="0" smtClean="0"/>
              <a:t>Research objective explains the </a:t>
            </a:r>
            <a:r>
              <a:rPr lang="en-US" dirty="0" smtClean="0">
                <a:solidFill>
                  <a:srgbClr val="FF0000"/>
                </a:solidFill>
              </a:rPr>
              <a:t>purpose of the research </a:t>
            </a:r>
            <a:r>
              <a:rPr lang="en-US" dirty="0" smtClean="0"/>
              <a:t>- developed based in research problem so as to make sure whether it is achievable and hence address the problem</a:t>
            </a:r>
          </a:p>
          <a:p>
            <a:pPr>
              <a:lnSpc>
                <a:spcPct val="100000"/>
              </a:lnSpc>
              <a:spcBef>
                <a:spcPts val="600"/>
              </a:spcBef>
            </a:pPr>
            <a:r>
              <a:rPr lang="en-US" dirty="0" smtClean="0"/>
              <a:t>Usually research objective are listed from </a:t>
            </a:r>
            <a:r>
              <a:rPr lang="en-US" dirty="0" smtClean="0">
                <a:solidFill>
                  <a:srgbClr val="FF0000"/>
                </a:solidFill>
              </a:rPr>
              <a:t>general to the specific ones</a:t>
            </a:r>
            <a:r>
              <a:rPr lang="en-US" dirty="0" smtClean="0"/>
              <a:t>.</a:t>
            </a:r>
          </a:p>
          <a:p>
            <a:pPr>
              <a:lnSpc>
                <a:spcPct val="100000"/>
              </a:lnSpc>
              <a:spcBef>
                <a:spcPts val="600"/>
              </a:spcBef>
            </a:pPr>
            <a:r>
              <a:rPr lang="en-US" dirty="0" smtClean="0"/>
              <a:t>The objectives should be expressed in such a way that the reader can determine whether the objectives have been achieved or not</a:t>
            </a:r>
          </a:p>
          <a:p>
            <a:pPr>
              <a:lnSpc>
                <a:spcPct val="100000"/>
              </a:lnSpc>
              <a:spcBef>
                <a:spcPts val="600"/>
              </a:spcBef>
            </a:pPr>
            <a:r>
              <a:rPr lang="en-US" dirty="0" smtClean="0"/>
              <a:t>Consistency must be verified by evaluating whether each objective is discussed in research design, data analysis and the discussion of findings</a:t>
            </a:r>
          </a:p>
          <a:p>
            <a:pPr>
              <a:lnSpc>
                <a:spcPct val="100000"/>
              </a:lnSpc>
              <a:spcBef>
                <a:spcPts val="600"/>
              </a:spcBef>
            </a:pPr>
            <a:r>
              <a:rPr lang="en-US" dirty="0" smtClean="0"/>
              <a:t>Examples:</a:t>
            </a:r>
          </a:p>
          <a:p>
            <a:pPr lvl="1">
              <a:lnSpc>
                <a:spcPct val="100000"/>
              </a:lnSpc>
              <a:spcBef>
                <a:spcPts val="600"/>
              </a:spcBef>
              <a:spcAft>
                <a:spcPts val="0"/>
              </a:spcAft>
            </a:pPr>
            <a:r>
              <a:rPr lang="en-US" dirty="0" smtClean="0"/>
              <a:t>To investigate …</a:t>
            </a:r>
          </a:p>
          <a:p>
            <a:pPr lvl="1">
              <a:lnSpc>
                <a:spcPct val="100000"/>
              </a:lnSpc>
              <a:spcBef>
                <a:spcPts val="600"/>
              </a:spcBef>
              <a:spcAft>
                <a:spcPts val="0"/>
              </a:spcAft>
            </a:pPr>
            <a:r>
              <a:rPr lang="en-US" dirty="0" smtClean="0"/>
              <a:t>To develop a model …</a:t>
            </a:r>
          </a:p>
          <a:p>
            <a:pPr lvl="1">
              <a:lnSpc>
                <a:spcPct val="100000"/>
              </a:lnSpc>
              <a:spcBef>
                <a:spcPts val="600"/>
              </a:spcBef>
              <a:spcAft>
                <a:spcPts val="0"/>
              </a:spcAft>
            </a:pPr>
            <a:r>
              <a:rPr lang="en-US" dirty="0" smtClean="0"/>
              <a:t>To explore …</a:t>
            </a:r>
          </a:p>
          <a:p>
            <a:pPr lvl="1">
              <a:lnSpc>
                <a:spcPct val="100000"/>
              </a:lnSpc>
              <a:spcBef>
                <a:spcPts val="600"/>
              </a:spcBef>
              <a:spcAft>
                <a:spcPts val="0"/>
              </a:spcAft>
            </a:pPr>
            <a:r>
              <a:rPr lang="en-US" dirty="0"/>
              <a:t> </a:t>
            </a:r>
            <a:r>
              <a:rPr lang="en-US" dirty="0" smtClean="0"/>
              <a:t>to determine relationships …</a:t>
            </a:r>
            <a:endParaRPr lang="en-US" dirty="0"/>
          </a:p>
        </p:txBody>
      </p:sp>
      <p:sp>
        <p:nvSpPr>
          <p:cNvPr id="4" name="Slide Number Placeholder 3"/>
          <p:cNvSpPr>
            <a:spLocks noGrp="1"/>
          </p:cNvSpPr>
          <p:nvPr>
            <p:ph type="sldNum" sz="quarter" idx="12"/>
          </p:nvPr>
        </p:nvSpPr>
        <p:spPr/>
        <p:txBody>
          <a:bodyPr/>
          <a:lstStyle/>
          <a:p>
            <a:fld id="{7E4255BD-13A2-4718-96FB-F348F7D160EB}" type="slidenum">
              <a:rPr lang="ms-MY" smtClean="0"/>
              <a:t>21</a:t>
            </a:fld>
            <a:endParaRPr lang="ms-MY"/>
          </a:p>
        </p:txBody>
      </p:sp>
      <p:pic>
        <p:nvPicPr>
          <p:cNvPr id="3074"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36330" y="-177800"/>
            <a:ext cx="2714878" cy="2714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7206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1103099"/>
          </a:xfrm>
        </p:spPr>
        <p:txBody>
          <a:bodyPr/>
          <a:lstStyle/>
          <a:p>
            <a:r>
              <a:rPr lang="en-US" dirty="0" smtClean="0"/>
              <a:t>How?</a:t>
            </a:r>
            <a:endParaRPr lang="ms-MY" dirty="0"/>
          </a:p>
        </p:txBody>
      </p:sp>
      <p:sp>
        <p:nvSpPr>
          <p:cNvPr id="3" name="Content Placeholder 2"/>
          <p:cNvSpPr>
            <a:spLocks noGrp="1"/>
          </p:cNvSpPr>
          <p:nvPr>
            <p:ph idx="1"/>
          </p:nvPr>
        </p:nvSpPr>
        <p:spPr>
          <a:xfrm>
            <a:off x="1069848" y="1697459"/>
            <a:ext cx="10058400" cy="736092"/>
          </a:xfrm>
        </p:spPr>
        <p:txBody>
          <a:bodyPr>
            <a:normAutofit fontScale="92500" lnSpcReduction="20000"/>
          </a:bodyPr>
          <a:lstStyle/>
          <a:p>
            <a:r>
              <a:rPr lang="en-US" dirty="0" smtClean="0"/>
              <a:t>An objective </a:t>
            </a:r>
            <a:r>
              <a:rPr lang="en-MY" dirty="0"/>
              <a:t>is a clear, concise statement that outlines what your research aims to achieve. These objectives guide your research process and help to focus your </a:t>
            </a:r>
            <a:r>
              <a:rPr lang="en-MY" dirty="0" smtClean="0"/>
              <a:t>study</a:t>
            </a:r>
            <a:r>
              <a:rPr lang="en-MY" dirty="0"/>
              <a:t> </a:t>
            </a:r>
            <a:r>
              <a:rPr lang="en-US" dirty="0" smtClean="0"/>
              <a:t>. </a:t>
            </a:r>
            <a:r>
              <a:rPr lang="en-US" b="1" dirty="0" smtClean="0">
                <a:solidFill>
                  <a:srgbClr val="00B050"/>
                </a:solidFill>
              </a:rPr>
              <a:t>SMART</a:t>
            </a:r>
            <a:r>
              <a:rPr lang="en-US" dirty="0" smtClean="0"/>
              <a:t> objectives are:</a:t>
            </a:r>
          </a:p>
          <a:p>
            <a:pPr marL="0" indent="0">
              <a:buNone/>
            </a:pPr>
            <a:endParaRPr lang="ms-MY" dirty="0"/>
          </a:p>
        </p:txBody>
      </p:sp>
      <p:sp>
        <p:nvSpPr>
          <p:cNvPr id="4" name="Slide Number Placeholder 3"/>
          <p:cNvSpPr>
            <a:spLocks noGrp="1"/>
          </p:cNvSpPr>
          <p:nvPr>
            <p:ph type="sldNum" sz="quarter" idx="12"/>
          </p:nvPr>
        </p:nvSpPr>
        <p:spPr/>
        <p:txBody>
          <a:bodyPr/>
          <a:lstStyle/>
          <a:p>
            <a:fld id="{7E4255BD-13A2-4718-96FB-F348F7D160EB}" type="slidenum">
              <a:rPr lang="ms-MY" smtClean="0"/>
              <a:t>22</a:t>
            </a:fld>
            <a:endParaRPr lang="ms-MY"/>
          </a:p>
        </p:txBody>
      </p:sp>
      <p:graphicFrame>
        <p:nvGraphicFramePr>
          <p:cNvPr id="5" name="Table 4"/>
          <p:cNvGraphicFramePr>
            <a:graphicFrameLocks noGrp="1"/>
          </p:cNvGraphicFramePr>
          <p:nvPr>
            <p:extLst>
              <p:ext uri="{D42A27DB-BD31-4B8C-83A1-F6EECF244321}">
                <p14:modId xmlns:p14="http://schemas.microsoft.com/office/powerpoint/2010/main" val="3412436164"/>
              </p:ext>
            </p:extLst>
          </p:nvPr>
        </p:nvGraphicFramePr>
        <p:xfrm>
          <a:off x="1069848" y="2877049"/>
          <a:ext cx="10058400" cy="2661920"/>
        </p:xfrm>
        <a:graphic>
          <a:graphicData uri="http://schemas.openxmlformats.org/drawingml/2006/table">
            <a:tbl>
              <a:tblPr firstRow="1" bandRow="1">
                <a:tableStyleId>{8A107856-5554-42FB-B03E-39F5DBC370BA}</a:tableStyleId>
              </a:tblPr>
              <a:tblGrid>
                <a:gridCol w="2798675">
                  <a:extLst>
                    <a:ext uri="{9D8B030D-6E8A-4147-A177-3AD203B41FA5}">
                      <a16:colId xmlns:a16="http://schemas.microsoft.com/office/drawing/2014/main" val="20000"/>
                    </a:ext>
                  </a:extLst>
                </a:gridCol>
                <a:gridCol w="7259725">
                  <a:extLst>
                    <a:ext uri="{9D8B030D-6E8A-4147-A177-3AD203B41FA5}">
                      <a16:colId xmlns:a16="http://schemas.microsoft.com/office/drawing/2014/main" val="20001"/>
                    </a:ext>
                  </a:extLst>
                </a:gridCol>
              </a:tblGrid>
              <a:tr h="370840">
                <a:tc>
                  <a:txBody>
                    <a:bodyPr/>
                    <a:lstStyle/>
                    <a:p>
                      <a:r>
                        <a:rPr lang="en-MY" sz="1800" b="1" i="0" kern="1200" dirty="0" smtClean="0">
                          <a:solidFill>
                            <a:srgbClr val="00B050"/>
                          </a:solidFill>
                          <a:effectLst/>
                          <a:latin typeface="+mn-lt"/>
                          <a:ea typeface="+mn-ea"/>
                          <a:cs typeface="+mn-cs"/>
                        </a:rPr>
                        <a:t>S</a:t>
                      </a:r>
                      <a:r>
                        <a:rPr lang="en-MY" sz="1800" b="1" i="0" kern="1200" dirty="0" smtClean="0">
                          <a:solidFill>
                            <a:schemeClr val="dk1"/>
                          </a:solidFill>
                          <a:effectLst/>
                          <a:latin typeface="+mn-lt"/>
                          <a:ea typeface="+mn-ea"/>
                          <a:cs typeface="+mn-cs"/>
                        </a:rPr>
                        <a:t>pecific</a:t>
                      </a:r>
                      <a:endParaRPr lang="ms-MY" b="0" dirty="0"/>
                    </a:p>
                  </a:txBody>
                  <a:tcPr/>
                </a:tc>
                <a:tc>
                  <a:txBody>
                    <a:bodyPr/>
                    <a:lstStyle/>
                    <a:p>
                      <a:r>
                        <a:rPr lang="en-MY" sz="1800" b="0" i="0" kern="1200" dirty="0" smtClean="0">
                          <a:solidFill>
                            <a:schemeClr val="dk1"/>
                          </a:solidFill>
                          <a:effectLst/>
                          <a:latin typeface="+mn-lt"/>
                          <a:ea typeface="+mn-ea"/>
                          <a:cs typeface="+mn-cs"/>
                        </a:rPr>
                        <a:t>Clearly define what you intend to achieve with your research</a:t>
                      </a:r>
                      <a:endParaRPr lang="ms-MY" b="0" dirty="0"/>
                    </a:p>
                  </a:txBody>
                  <a:tcPr/>
                </a:tc>
                <a:extLst>
                  <a:ext uri="{0D108BD9-81ED-4DB2-BD59-A6C34878D82A}">
                    <a16:rowId xmlns:a16="http://schemas.microsoft.com/office/drawing/2014/main" val="10000"/>
                  </a:ext>
                </a:extLst>
              </a:tr>
              <a:tr h="370840">
                <a:tc>
                  <a:txBody>
                    <a:bodyPr/>
                    <a:lstStyle/>
                    <a:p>
                      <a:r>
                        <a:rPr lang="en-MY" sz="1800" b="1" i="0" kern="1200" dirty="0" smtClean="0">
                          <a:solidFill>
                            <a:srgbClr val="00B050"/>
                          </a:solidFill>
                          <a:effectLst/>
                          <a:latin typeface="+mn-lt"/>
                          <a:ea typeface="+mn-ea"/>
                          <a:cs typeface="+mn-cs"/>
                        </a:rPr>
                        <a:t>M</a:t>
                      </a:r>
                      <a:r>
                        <a:rPr lang="en-MY" sz="1800" b="1" i="0" kern="1200" dirty="0" smtClean="0">
                          <a:solidFill>
                            <a:schemeClr val="dk1"/>
                          </a:solidFill>
                          <a:effectLst/>
                          <a:latin typeface="+mn-lt"/>
                          <a:ea typeface="+mn-ea"/>
                          <a:cs typeface="+mn-cs"/>
                        </a:rPr>
                        <a:t>easurable</a:t>
                      </a:r>
                      <a:endParaRPr lang="ms-MY" dirty="0"/>
                    </a:p>
                  </a:txBody>
                  <a:tcPr/>
                </a:tc>
                <a:tc>
                  <a:txBody>
                    <a:bodyPr/>
                    <a:lstStyle/>
                    <a:p>
                      <a:r>
                        <a:rPr lang="en-MY" sz="1800" b="0" i="0" kern="1200" dirty="0" smtClean="0">
                          <a:solidFill>
                            <a:schemeClr val="dk1"/>
                          </a:solidFill>
                          <a:effectLst/>
                          <a:latin typeface="+mn-lt"/>
                          <a:ea typeface="+mn-ea"/>
                          <a:cs typeface="+mn-cs"/>
                        </a:rPr>
                        <a:t>Ensure that your objectives can be measured to track progress and success.</a:t>
                      </a:r>
                      <a:endParaRPr lang="ms-MY" dirty="0"/>
                    </a:p>
                  </a:txBody>
                  <a:tcPr/>
                </a:tc>
                <a:extLst>
                  <a:ext uri="{0D108BD9-81ED-4DB2-BD59-A6C34878D82A}">
                    <a16:rowId xmlns:a16="http://schemas.microsoft.com/office/drawing/2014/main" val="10001"/>
                  </a:ext>
                </a:extLst>
              </a:tr>
              <a:tr h="370840">
                <a:tc>
                  <a:txBody>
                    <a:bodyPr/>
                    <a:lstStyle/>
                    <a:p>
                      <a:r>
                        <a:rPr lang="en-MY" sz="1800" b="1" i="0" kern="1200" dirty="0" smtClean="0">
                          <a:solidFill>
                            <a:srgbClr val="00B050"/>
                          </a:solidFill>
                          <a:effectLst/>
                          <a:latin typeface="+mn-lt"/>
                          <a:ea typeface="+mn-ea"/>
                          <a:cs typeface="+mn-cs"/>
                        </a:rPr>
                        <a:t>A</a:t>
                      </a:r>
                      <a:r>
                        <a:rPr lang="en-MY" sz="1800" b="1" i="0" kern="1200" dirty="0" smtClean="0">
                          <a:solidFill>
                            <a:schemeClr val="dk1"/>
                          </a:solidFill>
                          <a:effectLst/>
                          <a:latin typeface="+mn-lt"/>
                          <a:ea typeface="+mn-ea"/>
                          <a:cs typeface="+mn-cs"/>
                        </a:rPr>
                        <a:t>chievable</a:t>
                      </a:r>
                      <a:endParaRPr lang="ms-MY" dirty="0"/>
                    </a:p>
                  </a:txBody>
                  <a:tcPr/>
                </a:tc>
                <a:tc>
                  <a:txBody>
                    <a:bodyPr/>
                    <a:lstStyle/>
                    <a:p>
                      <a:r>
                        <a:rPr lang="en-MY" sz="1800" b="0" i="0" kern="1200" dirty="0" smtClean="0">
                          <a:solidFill>
                            <a:schemeClr val="dk1"/>
                          </a:solidFill>
                          <a:effectLst/>
                          <a:latin typeface="+mn-lt"/>
                          <a:ea typeface="+mn-ea"/>
                          <a:cs typeface="+mn-cs"/>
                        </a:rPr>
                        <a:t>Set realistic goals that can be accomplished within the scope of your project.</a:t>
                      </a:r>
                      <a:endParaRPr lang="ms-MY" dirty="0"/>
                    </a:p>
                  </a:txBody>
                  <a:tcPr/>
                </a:tc>
                <a:extLst>
                  <a:ext uri="{0D108BD9-81ED-4DB2-BD59-A6C34878D82A}">
                    <a16:rowId xmlns:a16="http://schemas.microsoft.com/office/drawing/2014/main" val="10002"/>
                  </a:ext>
                </a:extLst>
              </a:tr>
              <a:tr h="370840">
                <a:tc>
                  <a:txBody>
                    <a:bodyPr/>
                    <a:lstStyle/>
                    <a:p>
                      <a:r>
                        <a:rPr lang="en-MY" sz="1800" b="1" i="0" kern="1200" dirty="0" smtClean="0">
                          <a:solidFill>
                            <a:srgbClr val="00B050"/>
                          </a:solidFill>
                          <a:effectLst/>
                          <a:latin typeface="+mn-lt"/>
                          <a:ea typeface="+mn-ea"/>
                          <a:cs typeface="+mn-cs"/>
                        </a:rPr>
                        <a:t>R</a:t>
                      </a:r>
                      <a:r>
                        <a:rPr lang="en-MY" sz="1800" b="1" i="0" kern="1200" dirty="0" smtClean="0">
                          <a:solidFill>
                            <a:schemeClr val="dk1"/>
                          </a:solidFill>
                          <a:effectLst/>
                          <a:latin typeface="+mn-lt"/>
                          <a:ea typeface="+mn-ea"/>
                          <a:cs typeface="+mn-cs"/>
                        </a:rPr>
                        <a:t>elevant</a:t>
                      </a:r>
                      <a:endParaRPr lang="ms-MY" dirty="0"/>
                    </a:p>
                  </a:txBody>
                  <a:tcPr/>
                </a:tc>
                <a:tc>
                  <a:txBody>
                    <a:bodyPr/>
                    <a:lstStyle/>
                    <a:p>
                      <a:r>
                        <a:rPr lang="en-MY" sz="1800" b="0" i="0" kern="1200" dirty="0" smtClean="0">
                          <a:solidFill>
                            <a:schemeClr val="dk1"/>
                          </a:solidFill>
                          <a:effectLst/>
                          <a:latin typeface="+mn-lt"/>
                          <a:ea typeface="+mn-ea"/>
                          <a:cs typeface="+mn-cs"/>
                        </a:rPr>
                        <a:t>Ensure that your objectives are aligned with the overall aim of your research.</a:t>
                      </a:r>
                      <a:endParaRPr lang="ms-MY" dirty="0"/>
                    </a:p>
                  </a:txBody>
                  <a:tcPr/>
                </a:tc>
                <a:extLst>
                  <a:ext uri="{0D108BD9-81ED-4DB2-BD59-A6C34878D82A}">
                    <a16:rowId xmlns:a16="http://schemas.microsoft.com/office/drawing/2014/main" val="10003"/>
                  </a:ext>
                </a:extLst>
              </a:tr>
              <a:tr h="370840">
                <a:tc>
                  <a:txBody>
                    <a:bodyPr/>
                    <a:lstStyle/>
                    <a:p>
                      <a:r>
                        <a:rPr lang="en-MY" sz="1800" b="1" i="0" kern="1200" dirty="0" smtClean="0">
                          <a:solidFill>
                            <a:srgbClr val="00B050"/>
                          </a:solidFill>
                          <a:effectLst/>
                          <a:latin typeface="+mn-lt"/>
                          <a:ea typeface="+mn-ea"/>
                          <a:cs typeface="+mn-cs"/>
                        </a:rPr>
                        <a:t>T</a:t>
                      </a:r>
                      <a:r>
                        <a:rPr lang="en-MY" sz="1800" b="1" i="0" kern="1200" dirty="0" smtClean="0">
                          <a:solidFill>
                            <a:schemeClr val="dk1"/>
                          </a:solidFill>
                          <a:effectLst/>
                          <a:latin typeface="+mn-lt"/>
                          <a:ea typeface="+mn-ea"/>
                          <a:cs typeface="+mn-cs"/>
                        </a:rPr>
                        <a:t>ime-bound</a:t>
                      </a:r>
                      <a:endParaRPr lang="ms-MY" dirty="0"/>
                    </a:p>
                  </a:txBody>
                  <a:tcPr/>
                </a:tc>
                <a:tc>
                  <a:txBody>
                    <a:bodyPr/>
                    <a:lstStyle/>
                    <a:p>
                      <a:r>
                        <a:rPr lang="en-MY" sz="1800" b="0" i="0" kern="1200" dirty="0" smtClean="0">
                          <a:solidFill>
                            <a:schemeClr val="dk1"/>
                          </a:solidFill>
                          <a:effectLst/>
                          <a:latin typeface="+mn-lt"/>
                          <a:ea typeface="+mn-ea"/>
                          <a:cs typeface="+mn-cs"/>
                        </a:rPr>
                        <a:t>Set a timeframe for achieving your objectives.</a:t>
                      </a:r>
                      <a:endParaRPr lang="ms-MY"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994799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Example 1: </a:t>
            </a:r>
            <a:r>
              <a:rPr lang="en-US" dirty="0" smtClean="0"/>
              <a:t>research objective (problem based) </a:t>
            </a:r>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pPr marL="0" indent="0">
              <a:lnSpc>
                <a:spcPct val="100000"/>
              </a:lnSpc>
              <a:spcBef>
                <a:spcPts val="600"/>
              </a:spcBef>
              <a:buNone/>
            </a:pPr>
            <a:r>
              <a:rPr lang="en-US" sz="2400" dirty="0" smtClean="0"/>
              <a:t>The research objective could be:</a:t>
            </a:r>
          </a:p>
          <a:p>
            <a:pPr marL="617220" lvl="1" indent="-342900">
              <a:lnSpc>
                <a:spcPct val="100000"/>
              </a:lnSpc>
              <a:spcBef>
                <a:spcPts val="600"/>
              </a:spcBef>
              <a:buFont typeface="+mj-lt"/>
              <a:buAutoNum type="arabicPeriod"/>
            </a:pPr>
            <a:r>
              <a:rPr lang="en-US" sz="2000" dirty="0" smtClean="0">
                <a:solidFill>
                  <a:srgbClr val="00B050"/>
                </a:solidFill>
              </a:rPr>
              <a:t>To investigate </a:t>
            </a:r>
            <a:r>
              <a:rPr lang="en-US" sz="2000" dirty="0" smtClean="0"/>
              <a:t>the appropriate method in implementing an </a:t>
            </a:r>
            <a:r>
              <a:rPr lang="en-US" sz="2000" dirty="0"/>
              <a:t>automated registration of </a:t>
            </a:r>
            <a:r>
              <a:rPr lang="en-US" sz="2000" dirty="0" smtClean="0"/>
              <a:t>student courses</a:t>
            </a:r>
          </a:p>
          <a:p>
            <a:pPr marL="617220" lvl="1" indent="-342900">
              <a:lnSpc>
                <a:spcPct val="100000"/>
              </a:lnSpc>
              <a:spcBef>
                <a:spcPts val="600"/>
              </a:spcBef>
              <a:buFont typeface="+mj-lt"/>
              <a:buAutoNum type="arabicPeriod"/>
            </a:pPr>
            <a:r>
              <a:rPr lang="en-US" sz="2000" dirty="0" smtClean="0">
                <a:solidFill>
                  <a:srgbClr val="00B050"/>
                </a:solidFill>
              </a:rPr>
              <a:t>To design and develop</a:t>
            </a:r>
            <a:r>
              <a:rPr lang="en-US" sz="2000" dirty="0" smtClean="0">
                <a:solidFill>
                  <a:srgbClr val="0070C0"/>
                </a:solidFill>
              </a:rPr>
              <a:t> </a:t>
            </a:r>
            <a:r>
              <a:rPr lang="en-US" sz="2000" dirty="0" smtClean="0"/>
              <a:t>Fuzzy method in solving the UMP student course registration</a:t>
            </a:r>
          </a:p>
          <a:p>
            <a:pPr marL="617220" lvl="1" indent="-342900">
              <a:lnSpc>
                <a:spcPct val="100000"/>
              </a:lnSpc>
              <a:spcBef>
                <a:spcPts val="600"/>
              </a:spcBef>
              <a:buFont typeface="+mj-lt"/>
              <a:buAutoNum type="arabicPeriod"/>
            </a:pPr>
            <a:r>
              <a:rPr lang="en-US" sz="2000" dirty="0" smtClean="0">
                <a:solidFill>
                  <a:srgbClr val="00B050"/>
                </a:solidFill>
              </a:rPr>
              <a:t>To validate and assess </a:t>
            </a:r>
            <a:r>
              <a:rPr lang="en-US" sz="2000" dirty="0" smtClean="0"/>
              <a:t>the performance of the automated registration </a:t>
            </a:r>
            <a:r>
              <a:rPr lang="en-US" sz="2000" dirty="0"/>
              <a:t>of student </a:t>
            </a:r>
            <a:r>
              <a:rPr lang="en-US" sz="2000" dirty="0" smtClean="0"/>
              <a:t>courses with the existing </a:t>
            </a:r>
            <a:r>
              <a:rPr lang="en-US" sz="2000" dirty="0"/>
              <a:t>student course registration result</a:t>
            </a:r>
          </a:p>
          <a:p>
            <a:pPr marL="617220" lvl="1" indent="-342900">
              <a:buFont typeface="+mj-lt"/>
              <a:buAutoNum type="arabicPeriod"/>
            </a:pPr>
            <a:endParaRPr lang="en-US" sz="2000" dirty="0"/>
          </a:p>
          <a:p>
            <a:pPr marL="274320" lvl="1" indent="0">
              <a:buNone/>
            </a:pPr>
            <a:endParaRPr lang="en-US" sz="2000" dirty="0"/>
          </a:p>
        </p:txBody>
      </p:sp>
      <p:sp>
        <p:nvSpPr>
          <p:cNvPr id="4" name="Slide Number Placeholder 3"/>
          <p:cNvSpPr>
            <a:spLocks noGrp="1"/>
          </p:cNvSpPr>
          <p:nvPr>
            <p:ph type="sldNum" sz="quarter" idx="12"/>
          </p:nvPr>
        </p:nvSpPr>
        <p:spPr/>
        <p:txBody>
          <a:bodyPr/>
          <a:lstStyle/>
          <a:p>
            <a:fld id="{7E4255BD-13A2-4718-96FB-F348F7D160EB}" type="slidenum">
              <a:rPr lang="ms-MY" smtClean="0"/>
              <a:t>23</a:t>
            </a:fld>
            <a:endParaRPr lang="ms-MY"/>
          </a:p>
        </p:txBody>
      </p:sp>
    </p:spTree>
    <p:extLst>
      <p:ext uri="{BB962C8B-B14F-4D97-AF65-F5344CB8AC3E}">
        <p14:creationId xmlns:p14="http://schemas.microsoft.com/office/powerpoint/2010/main" val="283454656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Example </a:t>
            </a:r>
            <a:r>
              <a:rPr lang="en-US" dirty="0" smtClean="0"/>
              <a:t>2: Research objective (technique/method based</a:t>
            </a:r>
            <a:r>
              <a:rPr lang="en-US" dirty="0"/>
              <a:t>) </a:t>
            </a:r>
            <a:r>
              <a:rPr lang="en-US" dirty="0" err="1"/>
              <a:t>Cont</a:t>
            </a:r>
            <a:r>
              <a:rPr lang="en-US" dirty="0"/>
              <a:t>…</a:t>
            </a:r>
          </a:p>
        </p:txBody>
      </p:sp>
      <p:sp>
        <p:nvSpPr>
          <p:cNvPr id="3" name="Content Placeholder 2"/>
          <p:cNvSpPr>
            <a:spLocks noGrp="1"/>
          </p:cNvSpPr>
          <p:nvPr>
            <p:ph idx="1"/>
          </p:nvPr>
        </p:nvSpPr>
        <p:spPr/>
        <p:txBody>
          <a:bodyPr>
            <a:normAutofit/>
          </a:bodyPr>
          <a:lstStyle/>
          <a:p>
            <a:pPr marL="0" indent="0">
              <a:lnSpc>
                <a:spcPct val="100000"/>
              </a:lnSpc>
              <a:spcBef>
                <a:spcPts val="600"/>
              </a:spcBef>
              <a:buNone/>
            </a:pPr>
            <a:r>
              <a:rPr lang="en-US" sz="2400" dirty="0"/>
              <a:t>The research objective could be:</a:t>
            </a:r>
          </a:p>
          <a:p>
            <a:pPr marL="617220" lvl="1" indent="-342900">
              <a:lnSpc>
                <a:spcPct val="100000"/>
              </a:lnSpc>
              <a:spcBef>
                <a:spcPts val="600"/>
              </a:spcBef>
              <a:spcAft>
                <a:spcPts val="0"/>
              </a:spcAft>
              <a:buFont typeface="+mj-lt"/>
              <a:buAutoNum type="arabicPeriod"/>
            </a:pPr>
            <a:r>
              <a:rPr lang="en-US" sz="2000" dirty="0">
                <a:solidFill>
                  <a:srgbClr val="00B050"/>
                </a:solidFill>
              </a:rPr>
              <a:t>To investigate </a:t>
            </a:r>
            <a:r>
              <a:rPr lang="en-US" sz="2000" dirty="0"/>
              <a:t>the </a:t>
            </a:r>
            <a:r>
              <a:rPr lang="en-US" sz="2000" dirty="0" smtClean="0"/>
              <a:t>suitable variable and parameter value to encourage Hill climbing exploration issue</a:t>
            </a:r>
            <a:endParaRPr lang="en-US" sz="2000" dirty="0"/>
          </a:p>
          <a:p>
            <a:pPr marL="617220" lvl="1" indent="-342900">
              <a:lnSpc>
                <a:spcPct val="100000"/>
              </a:lnSpc>
              <a:spcBef>
                <a:spcPts val="600"/>
              </a:spcBef>
              <a:spcAft>
                <a:spcPts val="0"/>
              </a:spcAft>
              <a:buFont typeface="+mj-lt"/>
              <a:buAutoNum type="arabicPeriod"/>
            </a:pPr>
            <a:r>
              <a:rPr lang="en-US" sz="2000" dirty="0">
                <a:solidFill>
                  <a:srgbClr val="00B050"/>
                </a:solidFill>
              </a:rPr>
              <a:t>To design and develop </a:t>
            </a:r>
            <a:r>
              <a:rPr lang="en-US" sz="2000" dirty="0" smtClean="0"/>
              <a:t>a new approach in Hill climbing with poor result acceptance capability in </a:t>
            </a:r>
            <a:r>
              <a:rPr lang="en-US" sz="2000" dirty="0"/>
              <a:t>solving the UMP student course registration</a:t>
            </a:r>
          </a:p>
          <a:p>
            <a:pPr marL="617220" lvl="1" indent="-342900">
              <a:lnSpc>
                <a:spcPct val="100000"/>
              </a:lnSpc>
              <a:spcBef>
                <a:spcPts val="600"/>
              </a:spcBef>
              <a:spcAft>
                <a:spcPts val="0"/>
              </a:spcAft>
              <a:buFont typeface="+mj-lt"/>
              <a:buAutoNum type="arabicPeriod"/>
            </a:pPr>
            <a:r>
              <a:rPr lang="en-US" sz="2000" dirty="0" smtClean="0">
                <a:solidFill>
                  <a:srgbClr val="00B050"/>
                </a:solidFill>
              </a:rPr>
              <a:t>To validate and assess </a:t>
            </a:r>
            <a:r>
              <a:rPr lang="en-US" sz="2000" dirty="0" smtClean="0"/>
              <a:t>the new approach performance with the existing </a:t>
            </a:r>
            <a:r>
              <a:rPr lang="en-US" sz="2000" dirty="0"/>
              <a:t>student course </a:t>
            </a:r>
            <a:r>
              <a:rPr lang="en-US" sz="2000" dirty="0" smtClean="0"/>
              <a:t>registration result</a:t>
            </a:r>
          </a:p>
          <a:p>
            <a:pPr marL="0" indent="0">
              <a:buNone/>
            </a:pPr>
            <a:endParaRPr lang="en-US" dirty="0" smtClean="0"/>
          </a:p>
        </p:txBody>
      </p:sp>
      <p:sp>
        <p:nvSpPr>
          <p:cNvPr id="4" name="Slide Number Placeholder 3"/>
          <p:cNvSpPr>
            <a:spLocks noGrp="1"/>
          </p:cNvSpPr>
          <p:nvPr>
            <p:ph type="sldNum" sz="quarter" idx="12"/>
          </p:nvPr>
        </p:nvSpPr>
        <p:spPr/>
        <p:txBody>
          <a:bodyPr/>
          <a:lstStyle/>
          <a:p>
            <a:fld id="{7E4255BD-13A2-4718-96FB-F348F7D160EB}" type="slidenum">
              <a:rPr lang="ms-MY" smtClean="0"/>
              <a:t>24</a:t>
            </a:fld>
            <a:endParaRPr lang="ms-MY"/>
          </a:p>
        </p:txBody>
      </p:sp>
    </p:spTree>
    <p:extLst>
      <p:ext uri="{BB962C8B-B14F-4D97-AF65-F5344CB8AC3E}">
        <p14:creationId xmlns:p14="http://schemas.microsoft.com/office/powerpoint/2010/main" val="29508197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1712425"/>
            <a:ext cx="10058400" cy="4547063"/>
          </a:xfrm>
        </p:spPr>
        <p:txBody>
          <a:bodyPr>
            <a:normAutofit/>
          </a:bodyPr>
          <a:lstStyle/>
          <a:p>
            <a:pPr marL="0" indent="0">
              <a:buNone/>
            </a:pPr>
            <a:r>
              <a:rPr lang="en-US" sz="1800" b="1" dirty="0" smtClean="0"/>
              <a:t>PROBLEM STATEMENT</a:t>
            </a:r>
          </a:p>
          <a:p>
            <a:pPr>
              <a:spcBef>
                <a:spcPts val="600"/>
              </a:spcBef>
            </a:pPr>
            <a:r>
              <a:rPr lang="en-US" sz="1800" dirty="0" smtClean="0">
                <a:solidFill>
                  <a:srgbClr val="00B050"/>
                </a:solidFill>
              </a:rPr>
              <a:t>UMP </a:t>
            </a:r>
            <a:r>
              <a:rPr lang="en-US" sz="1800" dirty="0">
                <a:solidFill>
                  <a:srgbClr val="00B050"/>
                </a:solidFill>
              </a:rPr>
              <a:t>had implemented open registration (OR) system since year 2013/14. </a:t>
            </a:r>
            <a:r>
              <a:rPr lang="en-US" sz="1800" dirty="0">
                <a:solidFill>
                  <a:srgbClr val="FF0000"/>
                </a:solidFill>
              </a:rPr>
              <a:t>There have been a lot of negative feedback from students. Some of the negative feedback include unable to register courses due to full capacity and clashing</a:t>
            </a:r>
            <a:r>
              <a:rPr lang="en-US" sz="1800" dirty="0"/>
              <a:t>. </a:t>
            </a:r>
            <a:r>
              <a:rPr lang="en-US" sz="1800" dirty="0">
                <a:solidFill>
                  <a:srgbClr val="0070C0"/>
                </a:solidFill>
              </a:rPr>
              <a:t>As a result, the students able to only register minimum credit (≤ 15 credit) per semester and likely the student will have to extend in their study</a:t>
            </a:r>
            <a:r>
              <a:rPr lang="en-US" sz="1800" dirty="0"/>
              <a:t>. </a:t>
            </a:r>
            <a:r>
              <a:rPr lang="en-US" sz="1800" dirty="0">
                <a:solidFill>
                  <a:srgbClr val="FFC000"/>
                </a:solidFill>
              </a:rPr>
              <a:t>A quality course timetable is important in order to achieve the university KPI (e.g. graduate on Time, graduate employability)</a:t>
            </a:r>
          </a:p>
          <a:p>
            <a:pPr marL="0" indent="0">
              <a:spcBef>
                <a:spcPts val="1800"/>
              </a:spcBef>
              <a:buNone/>
            </a:pPr>
            <a:r>
              <a:rPr lang="en-US" sz="1800" b="1" dirty="0" smtClean="0"/>
              <a:t>RESEARCH OBJECTIVE</a:t>
            </a:r>
          </a:p>
          <a:p>
            <a:pPr marL="342900" indent="-342900">
              <a:spcBef>
                <a:spcPts val="600"/>
              </a:spcBef>
              <a:buFont typeface="+mj-lt"/>
              <a:buAutoNum type="arabicPeriod"/>
            </a:pPr>
            <a:r>
              <a:rPr lang="en-US" sz="1800" dirty="0" smtClean="0">
                <a:solidFill>
                  <a:srgbClr val="FF0000"/>
                </a:solidFill>
              </a:rPr>
              <a:t>To </a:t>
            </a:r>
            <a:r>
              <a:rPr lang="en-US" sz="1800" dirty="0">
                <a:solidFill>
                  <a:srgbClr val="FF0000"/>
                </a:solidFill>
              </a:rPr>
              <a:t>investigate </a:t>
            </a:r>
            <a:r>
              <a:rPr lang="en-US" sz="1800" dirty="0"/>
              <a:t>the appropriate method in implementing an automated registration of student courses</a:t>
            </a:r>
          </a:p>
          <a:p>
            <a:pPr marL="342900" indent="-342900">
              <a:spcBef>
                <a:spcPts val="600"/>
              </a:spcBef>
              <a:buFont typeface="+mj-lt"/>
              <a:buAutoNum type="arabicPeriod"/>
            </a:pPr>
            <a:r>
              <a:rPr lang="en-US" sz="1800" dirty="0">
                <a:solidFill>
                  <a:srgbClr val="0070C0"/>
                </a:solidFill>
              </a:rPr>
              <a:t>To design and develop </a:t>
            </a:r>
            <a:r>
              <a:rPr lang="en-US" sz="1800" dirty="0"/>
              <a:t>Fuzzy method in solving the UMP student course registration</a:t>
            </a:r>
          </a:p>
          <a:p>
            <a:pPr marL="342900" indent="-342900">
              <a:spcBef>
                <a:spcPts val="600"/>
              </a:spcBef>
              <a:buFont typeface="+mj-lt"/>
              <a:buAutoNum type="arabicPeriod"/>
            </a:pPr>
            <a:r>
              <a:rPr lang="en-US" sz="1800" dirty="0">
                <a:solidFill>
                  <a:srgbClr val="00B050"/>
                </a:solidFill>
              </a:rPr>
              <a:t>To validate and assess </a:t>
            </a:r>
            <a:r>
              <a:rPr lang="en-US" sz="1800" dirty="0"/>
              <a:t>the performance of the automated registration of student courses with the existing student course registration result</a:t>
            </a:r>
          </a:p>
          <a:p>
            <a:endParaRPr lang="ms-MY" sz="1800" dirty="0"/>
          </a:p>
        </p:txBody>
      </p:sp>
      <p:sp>
        <p:nvSpPr>
          <p:cNvPr id="4" name="Slide Number Placeholder 3"/>
          <p:cNvSpPr>
            <a:spLocks noGrp="1"/>
          </p:cNvSpPr>
          <p:nvPr>
            <p:ph type="sldNum" sz="quarter" idx="12"/>
          </p:nvPr>
        </p:nvSpPr>
        <p:spPr/>
        <p:txBody>
          <a:bodyPr/>
          <a:lstStyle/>
          <a:p>
            <a:fld id="{7E4255BD-13A2-4718-96FB-F348F7D160EB}" type="slidenum">
              <a:rPr lang="ms-MY" smtClean="0"/>
              <a:t>25</a:t>
            </a:fld>
            <a:endParaRPr lang="ms-MY"/>
          </a:p>
        </p:txBody>
      </p:sp>
      <p:sp>
        <p:nvSpPr>
          <p:cNvPr id="5" name="Title 1"/>
          <p:cNvSpPr txBox="1">
            <a:spLocks/>
          </p:cNvSpPr>
          <p:nvPr/>
        </p:nvSpPr>
        <p:spPr>
          <a:xfrm>
            <a:off x="1069848" y="484632"/>
            <a:ext cx="10058400" cy="11030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Recap: example 1</a:t>
            </a:r>
            <a:endParaRPr lang="ms-MY" dirty="0"/>
          </a:p>
        </p:txBody>
      </p:sp>
    </p:spTree>
    <p:extLst>
      <p:ext uri="{BB962C8B-B14F-4D97-AF65-F5344CB8AC3E}">
        <p14:creationId xmlns:p14="http://schemas.microsoft.com/office/powerpoint/2010/main" val="26387484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9848" y="1255222"/>
            <a:ext cx="10058400" cy="5602778"/>
          </a:xfrm>
        </p:spPr>
        <p:txBody>
          <a:bodyPr>
            <a:normAutofit/>
          </a:bodyPr>
          <a:lstStyle/>
          <a:p>
            <a:pPr marL="0" indent="0">
              <a:buNone/>
            </a:pPr>
            <a:r>
              <a:rPr lang="en-US" sz="1900" b="1" dirty="0" smtClean="0"/>
              <a:t>PROBLEM STATEMENT</a:t>
            </a:r>
          </a:p>
          <a:p>
            <a:pPr algn="just"/>
            <a:r>
              <a:rPr lang="en-US" sz="1900" dirty="0">
                <a:solidFill>
                  <a:srgbClr val="00B050"/>
                </a:solidFill>
              </a:rPr>
              <a:t>The Hill climbing is a meta-heuristics technique and popular because of it simplicity and straightforward technique. It have been successfully applied in many NP problem (e.g. TSP, VRP, timetabling)</a:t>
            </a:r>
            <a:r>
              <a:rPr lang="en-US" sz="1900" dirty="0"/>
              <a:t>.</a:t>
            </a:r>
            <a:r>
              <a:rPr lang="en-US" sz="1900" dirty="0">
                <a:solidFill>
                  <a:srgbClr val="00B050"/>
                </a:solidFill>
              </a:rPr>
              <a:t> </a:t>
            </a:r>
            <a:r>
              <a:rPr lang="en-US" sz="1900" dirty="0">
                <a:solidFill>
                  <a:srgbClr val="FF0000"/>
                </a:solidFill>
              </a:rPr>
              <a:t>However, Hill climbing lack of exploration feature and this cause it to easily trap in a local optimal</a:t>
            </a:r>
            <a:r>
              <a:rPr lang="en-US" sz="1900" dirty="0"/>
              <a:t>. </a:t>
            </a:r>
            <a:r>
              <a:rPr lang="en-US" sz="1900" dirty="0">
                <a:solidFill>
                  <a:srgbClr val="FF0000"/>
                </a:solidFill>
              </a:rPr>
              <a:t>Having no mechanism to escape from the local optima, Hill climbing unable to explore other promising search area</a:t>
            </a:r>
            <a:r>
              <a:rPr lang="en-US" sz="1900" dirty="0">
                <a:solidFill>
                  <a:srgbClr val="0070C0"/>
                </a:solidFill>
              </a:rPr>
              <a:t>. This resulting in a poor quality solution when compared other meta-heuristic techniques (e.g. SA, GA, PSO, ACO).</a:t>
            </a:r>
            <a:r>
              <a:rPr lang="en-US" sz="1900" dirty="0"/>
              <a:t> </a:t>
            </a:r>
            <a:r>
              <a:rPr lang="en-US" sz="1900" dirty="0">
                <a:solidFill>
                  <a:srgbClr val="FFC000"/>
                </a:solidFill>
              </a:rPr>
              <a:t>Hill climbing is simple and straightforward method is not easy to come by when compared to other complex methods (e.g. SA, GA, PSO, ACO). Additionally, hill-climbing have been proven able to produce good solution and solve variety of problems. </a:t>
            </a:r>
          </a:p>
          <a:p>
            <a:pPr marL="0" indent="0">
              <a:spcBef>
                <a:spcPts val="1800"/>
              </a:spcBef>
              <a:buNone/>
            </a:pPr>
            <a:r>
              <a:rPr lang="en-US" sz="1900" b="1" dirty="0" smtClean="0"/>
              <a:t>RESEARCH OBJECTIVE</a:t>
            </a:r>
          </a:p>
          <a:p>
            <a:pPr marL="342900" indent="-342900">
              <a:spcBef>
                <a:spcPts val="600"/>
              </a:spcBef>
              <a:buFont typeface="+mj-lt"/>
              <a:buAutoNum type="arabicPeriod"/>
            </a:pPr>
            <a:r>
              <a:rPr lang="en-US" sz="1900" dirty="0">
                <a:solidFill>
                  <a:srgbClr val="FF0000"/>
                </a:solidFill>
              </a:rPr>
              <a:t>To investigate </a:t>
            </a:r>
            <a:r>
              <a:rPr lang="en-US" sz="1900" dirty="0"/>
              <a:t>the suitable variable and parameter value to encourage Hill climbing exploration issue</a:t>
            </a:r>
          </a:p>
          <a:p>
            <a:pPr marL="342900" indent="-342900">
              <a:spcBef>
                <a:spcPts val="600"/>
              </a:spcBef>
              <a:buFont typeface="+mj-lt"/>
              <a:buAutoNum type="arabicPeriod"/>
            </a:pPr>
            <a:r>
              <a:rPr lang="en-US" sz="1900" dirty="0">
                <a:solidFill>
                  <a:srgbClr val="0070C0"/>
                </a:solidFill>
              </a:rPr>
              <a:t>To design and develop </a:t>
            </a:r>
            <a:r>
              <a:rPr lang="en-US" sz="1900" dirty="0"/>
              <a:t>a new approach in Hill climbing with poor result acceptance capability in solving the UMP student course registration</a:t>
            </a:r>
          </a:p>
          <a:p>
            <a:pPr marL="342900" indent="-342900">
              <a:spcBef>
                <a:spcPts val="600"/>
              </a:spcBef>
              <a:buFont typeface="+mj-lt"/>
              <a:buAutoNum type="arabicPeriod"/>
            </a:pPr>
            <a:r>
              <a:rPr lang="en-US" sz="1900" dirty="0">
                <a:solidFill>
                  <a:srgbClr val="00B050"/>
                </a:solidFill>
              </a:rPr>
              <a:t>To validate and assess </a:t>
            </a:r>
            <a:r>
              <a:rPr lang="en-US" sz="1900" dirty="0"/>
              <a:t>the new approach performance with the existing student course registration </a:t>
            </a:r>
            <a:r>
              <a:rPr lang="en-US" sz="1900" dirty="0" smtClean="0"/>
              <a:t>result</a:t>
            </a:r>
            <a:endParaRPr lang="en-US" sz="1900" dirty="0"/>
          </a:p>
        </p:txBody>
      </p:sp>
      <p:sp>
        <p:nvSpPr>
          <p:cNvPr id="4" name="Slide Number Placeholder 3"/>
          <p:cNvSpPr>
            <a:spLocks noGrp="1"/>
          </p:cNvSpPr>
          <p:nvPr>
            <p:ph type="sldNum" sz="quarter" idx="12"/>
          </p:nvPr>
        </p:nvSpPr>
        <p:spPr/>
        <p:txBody>
          <a:bodyPr/>
          <a:lstStyle/>
          <a:p>
            <a:fld id="{7E4255BD-13A2-4718-96FB-F348F7D160EB}" type="slidenum">
              <a:rPr lang="ms-MY" smtClean="0"/>
              <a:t>26</a:t>
            </a:fld>
            <a:endParaRPr lang="ms-MY"/>
          </a:p>
        </p:txBody>
      </p:sp>
      <p:sp>
        <p:nvSpPr>
          <p:cNvPr id="5" name="Title 1"/>
          <p:cNvSpPr txBox="1">
            <a:spLocks/>
          </p:cNvSpPr>
          <p:nvPr/>
        </p:nvSpPr>
        <p:spPr>
          <a:xfrm>
            <a:off x="1069848" y="152123"/>
            <a:ext cx="10058400" cy="11030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r>
              <a:rPr lang="en-US" dirty="0"/>
              <a:t>Recap: example </a:t>
            </a:r>
            <a:r>
              <a:rPr lang="en-US" dirty="0" smtClean="0"/>
              <a:t>2</a:t>
            </a:r>
            <a:endParaRPr lang="ms-MY" dirty="0"/>
          </a:p>
        </p:txBody>
      </p:sp>
    </p:spTree>
    <p:extLst>
      <p:ext uri="{BB962C8B-B14F-4D97-AF65-F5344CB8AC3E}">
        <p14:creationId xmlns:p14="http://schemas.microsoft.com/office/powerpoint/2010/main" val="19005901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scope</a:t>
            </a:r>
            <a:endParaRPr lang="ms-MY" dirty="0"/>
          </a:p>
        </p:txBody>
      </p:sp>
      <p:sp>
        <p:nvSpPr>
          <p:cNvPr id="4" name="Slide Number Placeholder 3"/>
          <p:cNvSpPr>
            <a:spLocks noGrp="1"/>
          </p:cNvSpPr>
          <p:nvPr>
            <p:ph type="sldNum" sz="quarter" idx="12"/>
          </p:nvPr>
        </p:nvSpPr>
        <p:spPr/>
        <p:txBody>
          <a:bodyPr/>
          <a:lstStyle/>
          <a:p>
            <a:fld id="{7E4255BD-13A2-4718-96FB-F348F7D160EB}" type="slidenum">
              <a:rPr lang="ms-MY" smtClean="0"/>
              <a:t>27</a:t>
            </a:fld>
            <a:endParaRPr lang="ms-MY"/>
          </a:p>
        </p:txBody>
      </p:sp>
    </p:spTree>
    <p:extLst>
      <p:ext uri="{BB962C8B-B14F-4D97-AF65-F5344CB8AC3E}">
        <p14:creationId xmlns:p14="http://schemas.microsoft.com/office/powerpoint/2010/main" val="6058338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research scope</a:t>
            </a:r>
            <a:endParaRPr lang="ms-MY" dirty="0"/>
          </a:p>
        </p:txBody>
      </p:sp>
      <p:sp>
        <p:nvSpPr>
          <p:cNvPr id="3" name="Content Placeholder 2"/>
          <p:cNvSpPr>
            <a:spLocks noGrp="1"/>
          </p:cNvSpPr>
          <p:nvPr>
            <p:ph idx="1"/>
          </p:nvPr>
        </p:nvSpPr>
        <p:spPr>
          <a:xfrm>
            <a:off x="1069847" y="2121408"/>
            <a:ext cx="9986079" cy="4050792"/>
          </a:xfrm>
        </p:spPr>
        <p:txBody>
          <a:bodyPr>
            <a:normAutofit/>
          </a:bodyPr>
          <a:lstStyle/>
          <a:p>
            <a:r>
              <a:rPr lang="en-US" sz="2200" dirty="0" smtClean="0"/>
              <a:t>The scope of the research is to </a:t>
            </a:r>
            <a:r>
              <a:rPr lang="en-MY" dirty="0"/>
              <a:t>defines the boundaries and extent of your study. It specifies what will and will not be covered, helping to focus your efforts and manage </a:t>
            </a:r>
            <a:r>
              <a:rPr lang="en-MY" dirty="0" smtClean="0"/>
              <a:t>expectations.</a:t>
            </a:r>
          </a:p>
          <a:p>
            <a:r>
              <a:rPr lang="en-MY" b="1" dirty="0">
                <a:solidFill>
                  <a:srgbClr val="7030A0"/>
                </a:solidFill>
              </a:rPr>
              <a:t>Define the Boundaries</a:t>
            </a:r>
            <a:r>
              <a:rPr lang="en-MY" dirty="0">
                <a:solidFill>
                  <a:srgbClr val="7030A0"/>
                </a:solidFill>
              </a:rPr>
              <a:t>:</a:t>
            </a:r>
          </a:p>
          <a:p>
            <a:pPr lvl="1"/>
            <a:r>
              <a:rPr lang="en-MY" dirty="0"/>
              <a:t>Clearly outline the limits of your research.</a:t>
            </a:r>
          </a:p>
          <a:p>
            <a:pPr lvl="1"/>
            <a:r>
              <a:rPr lang="en-MY" dirty="0"/>
              <a:t>Specify the aspects of the topic you will focus on and those you will exclude</a:t>
            </a:r>
            <a:r>
              <a:rPr lang="en-MY" dirty="0" smtClean="0"/>
              <a:t>.</a:t>
            </a:r>
          </a:p>
          <a:p>
            <a:r>
              <a:rPr lang="en-MY" b="1" dirty="0">
                <a:solidFill>
                  <a:srgbClr val="7030A0"/>
                </a:solidFill>
              </a:rPr>
              <a:t>Set the Context</a:t>
            </a:r>
            <a:r>
              <a:rPr lang="en-MY" dirty="0">
                <a:solidFill>
                  <a:srgbClr val="7030A0"/>
                </a:solidFill>
              </a:rPr>
              <a:t>:</a:t>
            </a:r>
          </a:p>
          <a:p>
            <a:pPr lvl="1"/>
            <a:r>
              <a:rPr lang="en-MY" dirty="0"/>
              <a:t>Provide background information to help understand the scope.</a:t>
            </a:r>
          </a:p>
          <a:p>
            <a:pPr lvl="1"/>
            <a:r>
              <a:rPr lang="en-MY" dirty="0"/>
              <a:t>Explain the relevance of the chosen boundaries.</a:t>
            </a:r>
          </a:p>
          <a:p>
            <a:pPr lvl="1"/>
            <a:endParaRPr lang="en-MY" dirty="0"/>
          </a:p>
          <a:p>
            <a:endParaRPr lang="en-US" sz="2200" dirty="0"/>
          </a:p>
          <a:p>
            <a:pPr lvl="1"/>
            <a:endParaRPr lang="ms-MY" sz="2200" dirty="0"/>
          </a:p>
        </p:txBody>
      </p:sp>
      <p:sp>
        <p:nvSpPr>
          <p:cNvPr id="4" name="Slide Number Placeholder 3"/>
          <p:cNvSpPr>
            <a:spLocks noGrp="1"/>
          </p:cNvSpPr>
          <p:nvPr>
            <p:ph type="sldNum" sz="quarter" idx="12"/>
          </p:nvPr>
        </p:nvSpPr>
        <p:spPr/>
        <p:txBody>
          <a:bodyPr/>
          <a:lstStyle/>
          <a:p>
            <a:fld id="{7E4255BD-13A2-4718-96FB-F348F7D160EB}" type="slidenum">
              <a:rPr lang="ms-MY" smtClean="0"/>
              <a:t>28</a:t>
            </a:fld>
            <a:endParaRPr lang="ms-MY"/>
          </a:p>
        </p:txBody>
      </p:sp>
    </p:spTree>
    <p:extLst>
      <p:ext uri="{BB962C8B-B14F-4D97-AF65-F5344CB8AC3E}">
        <p14:creationId xmlns:p14="http://schemas.microsoft.com/office/powerpoint/2010/main" val="206878457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research scope</a:t>
            </a:r>
            <a:endParaRPr lang="ms-MY" dirty="0"/>
          </a:p>
        </p:txBody>
      </p:sp>
      <p:sp>
        <p:nvSpPr>
          <p:cNvPr id="3" name="Content Placeholder 2"/>
          <p:cNvSpPr>
            <a:spLocks noGrp="1"/>
          </p:cNvSpPr>
          <p:nvPr>
            <p:ph idx="1"/>
          </p:nvPr>
        </p:nvSpPr>
        <p:spPr>
          <a:xfrm>
            <a:off x="1069847" y="2121408"/>
            <a:ext cx="9919577" cy="4050792"/>
          </a:xfrm>
        </p:spPr>
        <p:txBody>
          <a:bodyPr>
            <a:normAutofit/>
          </a:bodyPr>
          <a:lstStyle/>
          <a:p>
            <a:r>
              <a:rPr lang="en-MY" b="1" dirty="0">
                <a:solidFill>
                  <a:srgbClr val="7030A0"/>
                </a:solidFill>
              </a:rPr>
              <a:t>Identify the Parameters</a:t>
            </a:r>
            <a:r>
              <a:rPr lang="en-MY" dirty="0">
                <a:solidFill>
                  <a:srgbClr val="7030A0"/>
                </a:solidFill>
              </a:rPr>
              <a:t>:</a:t>
            </a:r>
          </a:p>
          <a:p>
            <a:pPr lvl="1"/>
            <a:r>
              <a:rPr lang="en-MY" dirty="0"/>
              <a:t>List the specific parameters within which your study will operate.</a:t>
            </a:r>
          </a:p>
          <a:p>
            <a:pPr lvl="1"/>
            <a:r>
              <a:rPr lang="en-MY" dirty="0"/>
              <a:t>Include details such as the time frame, geographical area, and population/sample size.</a:t>
            </a:r>
          </a:p>
          <a:p>
            <a:r>
              <a:rPr lang="en-MY" b="1" dirty="0">
                <a:solidFill>
                  <a:srgbClr val="7030A0"/>
                </a:solidFill>
              </a:rPr>
              <a:t>State the Objectives</a:t>
            </a:r>
            <a:r>
              <a:rPr lang="en-MY" dirty="0">
                <a:solidFill>
                  <a:srgbClr val="7030A0"/>
                </a:solidFill>
              </a:rPr>
              <a:t>:</a:t>
            </a:r>
          </a:p>
          <a:p>
            <a:pPr lvl="1"/>
            <a:r>
              <a:rPr lang="en-MY" dirty="0"/>
              <a:t>Align the scope with your research objectives.</a:t>
            </a:r>
          </a:p>
          <a:p>
            <a:pPr lvl="1"/>
            <a:r>
              <a:rPr lang="en-MY" dirty="0"/>
              <a:t>Ensure that the scope supports the goals you aim to achieve.</a:t>
            </a:r>
          </a:p>
          <a:p>
            <a:r>
              <a:rPr lang="en-MY" b="1" dirty="0">
                <a:solidFill>
                  <a:srgbClr val="7030A0"/>
                </a:solidFill>
              </a:rPr>
              <a:t>Acknowledge Limitations</a:t>
            </a:r>
            <a:r>
              <a:rPr lang="en-MY" dirty="0">
                <a:solidFill>
                  <a:srgbClr val="7030A0"/>
                </a:solidFill>
              </a:rPr>
              <a:t>:</a:t>
            </a:r>
          </a:p>
          <a:p>
            <a:pPr lvl="1"/>
            <a:r>
              <a:rPr lang="en-MY" dirty="0"/>
              <a:t>Mention any limitations that might affect your research.</a:t>
            </a:r>
          </a:p>
          <a:p>
            <a:pPr lvl="1"/>
            <a:r>
              <a:rPr lang="en-MY" dirty="0"/>
              <a:t>Explain how these limitations are managed within the scope.</a:t>
            </a:r>
          </a:p>
          <a:p>
            <a:endParaRPr lang="en-US" sz="2200" dirty="0"/>
          </a:p>
          <a:p>
            <a:pPr lvl="1"/>
            <a:endParaRPr lang="ms-MY" sz="2200" dirty="0"/>
          </a:p>
        </p:txBody>
      </p:sp>
      <p:sp>
        <p:nvSpPr>
          <p:cNvPr id="4" name="Slide Number Placeholder 3"/>
          <p:cNvSpPr>
            <a:spLocks noGrp="1"/>
          </p:cNvSpPr>
          <p:nvPr>
            <p:ph type="sldNum" sz="quarter" idx="12"/>
          </p:nvPr>
        </p:nvSpPr>
        <p:spPr/>
        <p:txBody>
          <a:bodyPr/>
          <a:lstStyle/>
          <a:p>
            <a:fld id="{7E4255BD-13A2-4718-96FB-F348F7D160EB}" type="slidenum">
              <a:rPr lang="ms-MY" smtClean="0"/>
              <a:t>29</a:t>
            </a:fld>
            <a:endParaRPr lang="ms-MY"/>
          </a:p>
        </p:txBody>
      </p:sp>
    </p:spTree>
    <p:extLst>
      <p:ext uri="{BB962C8B-B14F-4D97-AF65-F5344CB8AC3E}">
        <p14:creationId xmlns:p14="http://schemas.microsoft.com/office/powerpoint/2010/main" val="328512403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a:t>Scope of the Study </a:t>
            </a:r>
            <a:r>
              <a:rPr lang="en-MY" b="1" dirty="0" smtClean="0"/>
              <a:t>Example</a:t>
            </a:r>
            <a:endParaRPr lang="ms-MY" dirty="0"/>
          </a:p>
        </p:txBody>
      </p:sp>
      <p:sp>
        <p:nvSpPr>
          <p:cNvPr id="3" name="Content Placeholder 2"/>
          <p:cNvSpPr>
            <a:spLocks noGrp="1"/>
          </p:cNvSpPr>
          <p:nvPr>
            <p:ph idx="1"/>
          </p:nvPr>
        </p:nvSpPr>
        <p:spPr>
          <a:xfrm>
            <a:off x="1069848" y="2121408"/>
            <a:ext cx="10152334" cy="4050792"/>
          </a:xfrm>
        </p:spPr>
        <p:txBody>
          <a:bodyPr>
            <a:normAutofit/>
          </a:bodyPr>
          <a:lstStyle/>
          <a:p>
            <a:r>
              <a:rPr lang="en-MY" dirty="0"/>
              <a:t>This research focuses on developing a machine learning-based intrusion detection system (IDS) to enhance the security of computer networks. The scope of this study includes:</a:t>
            </a:r>
          </a:p>
          <a:p>
            <a:r>
              <a:rPr lang="en-MY" b="1" dirty="0">
                <a:solidFill>
                  <a:srgbClr val="7030A0"/>
                </a:solidFill>
              </a:rPr>
              <a:t>Geographical Boundaries</a:t>
            </a:r>
            <a:r>
              <a:rPr lang="en-MY" dirty="0">
                <a:solidFill>
                  <a:srgbClr val="7030A0"/>
                </a:solidFill>
              </a:rPr>
              <a:t>:</a:t>
            </a:r>
          </a:p>
          <a:p>
            <a:pPr lvl="1"/>
            <a:r>
              <a:rPr lang="en-MY" dirty="0"/>
              <a:t>The study will be conducted using data from organizations within Malaysia.</a:t>
            </a:r>
          </a:p>
          <a:p>
            <a:r>
              <a:rPr lang="en-MY" b="1" dirty="0">
                <a:solidFill>
                  <a:srgbClr val="7030A0"/>
                </a:solidFill>
              </a:rPr>
              <a:t>Time Frame</a:t>
            </a:r>
            <a:r>
              <a:rPr lang="en-MY" dirty="0">
                <a:solidFill>
                  <a:srgbClr val="7030A0"/>
                </a:solidFill>
              </a:rPr>
              <a:t>:</a:t>
            </a:r>
          </a:p>
          <a:p>
            <a:pPr lvl="1"/>
            <a:r>
              <a:rPr lang="en-MY" dirty="0"/>
              <a:t>The research will cover a period of six months, from January to June 2024.</a:t>
            </a:r>
          </a:p>
          <a:p>
            <a:r>
              <a:rPr lang="en-MY" b="1" dirty="0">
                <a:solidFill>
                  <a:srgbClr val="7030A0"/>
                </a:solidFill>
              </a:rPr>
              <a:t>Technological Focus</a:t>
            </a:r>
            <a:r>
              <a:rPr lang="en-MY" dirty="0">
                <a:solidFill>
                  <a:srgbClr val="7030A0"/>
                </a:solidFill>
              </a:rPr>
              <a:t>:</a:t>
            </a:r>
          </a:p>
          <a:p>
            <a:pPr lvl="1"/>
            <a:r>
              <a:rPr lang="en-MY" dirty="0"/>
              <a:t>The study will focus on machine learning algorithms, specifically supervised learning techniques.</a:t>
            </a:r>
          </a:p>
          <a:p>
            <a:pPr lvl="1"/>
            <a:r>
              <a:rPr lang="en-MY" dirty="0"/>
              <a:t>It will exclude other types of algorithms such as unsupervised learning and deep learning.</a:t>
            </a:r>
          </a:p>
          <a:p>
            <a:endParaRPr lang="en-US" sz="2200" dirty="0"/>
          </a:p>
          <a:p>
            <a:pPr lvl="1"/>
            <a:endParaRPr lang="ms-MY" sz="2200" dirty="0"/>
          </a:p>
        </p:txBody>
      </p:sp>
      <p:sp>
        <p:nvSpPr>
          <p:cNvPr id="4" name="Slide Number Placeholder 3"/>
          <p:cNvSpPr>
            <a:spLocks noGrp="1"/>
          </p:cNvSpPr>
          <p:nvPr>
            <p:ph type="sldNum" sz="quarter" idx="12"/>
          </p:nvPr>
        </p:nvSpPr>
        <p:spPr/>
        <p:txBody>
          <a:bodyPr/>
          <a:lstStyle/>
          <a:p>
            <a:fld id="{7E4255BD-13A2-4718-96FB-F348F7D160EB}" type="slidenum">
              <a:rPr lang="ms-MY" smtClean="0"/>
              <a:t>30</a:t>
            </a:fld>
            <a:endParaRPr lang="ms-MY"/>
          </a:p>
        </p:txBody>
      </p:sp>
    </p:spTree>
    <p:extLst>
      <p:ext uri="{BB962C8B-B14F-4D97-AF65-F5344CB8AC3E}">
        <p14:creationId xmlns:p14="http://schemas.microsoft.com/office/powerpoint/2010/main" val="23895293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b="1" dirty="0"/>
              <a:t>Scope of the Study </a:t>
            </a:r>
            <a:r>
              <a:rPr lang="en-MY" b="1" dirty="0" smtClean="0"/>
              <a:t>Example</a:t>
            </a:r>
            <a:endParaRPr lang="ms-MY" dirty="0"/>
          </a:p>
        </p:txBody>
      </p:sp>
      <p:sp>
        <p:nvSpPr>
          <p:cNvPr id="3" name="Content Placeholder 2"/>
          <p:cNvSpPr>
            <a:spLocks noGrp="1"/>
          </p:cNvSpPr>
          <p:nvPr>
            <p:ph idx="1"/>
          </p:nvPr>
        </p:nvSpPr>
        <p:spPr>
          <a:xfrm>
            <a:off x="1069848" y="2121408"/>
            <a:ext cx="10152334" cy="4050792"/>
          </a:xfrm>
        </p:spPr>
        <p:txBody>
          <a:bodyPr>
            <a:normAutofit lnSpcReduction="10000"/>
          </a:bodyPr>
          <a:lstStyle/>
          <a:p>
            <a:r>
              <a:rPr lang="en-MY" b="1" dirty="0">
                <a:solidFill>
                  <a:srgbClr val="7030A0"/>
                </a:solidFill>
              </a:rPr>
              <a:t>Data Sources</a:t>
            </a:r>
            <a:r>
              <a:rPr lang="en-MY" dirty="0">
                <a:solidFill>
                  <a:srgbClr val="7030A0"/>
                </a:solidFill>
              </a:rPr>
              <a:t>:</a:t>
            </a:r>
          </a:p>
          <a:p>
            <a:pPr lvl="1"/>
            <a:r>
              <a:rPr lang="en-MY" dirty="0"/>
              <a:t>The research will utilize network traffic data from selected organizations.</a:t>
            </a:r>
          </a:p>
          <a:p>
            <a:pPr lvl="1"/>
            <a:r>
              <a:rPr lang="en-MY" dirty="0"/>
              <a:t>It will not include data from personal devices or public networks.</a:t>
            </a:r>
          </a:p>
          <a:p>
            <a:r>
              <a:rPr lang="en-MY" b="1" dirty="0">
                <a:solidFill>
                  <a:srgbClr val="7030A0"/>
                </a:solidFill>
              </a:rPr>
              <a:t>Objectives Alignment</a:t>
            </a:r>
            <a:r>
              <a:rPr lang="en-MY" dirty="0">
                <a:solidFill>
                  <a:srgbClr val="7030A0"/>
                </a:solidFill>
              </a:rPr>
              <a:t>:</a:t>
            </a:r>
          </a:p>
          <a:p>
            <a:pPr lvl="1"/>
            <a:r>
              <a:rPr lang="en-MY" dirty="0"/>
              <a:t>The scope is designed to achieve the objectives of </a:t>
            </a:r>
            <a:r>
              <a:rPr lang="en-MY" dirty="0" err="1"/>
              <a:t>analyzing</a:t>
            </a:r>
            <a:r>
              <a:rPr lang="en-MY" dirty="0"/>
              <a:t> existing IDS technologies, designing a machine learning model, implementing the model, and evaluating its performance.</a:t>
            </a:r>
          </a:p>
          <a:p>
            <a:r>
              <a:rPr lang="en-MY" b="1" dirty="0">
                <a:solidFill>
                  <a:srgbClr val="7030A0"/>
                </a:solidFill>
              </a:rPr>
              <a:t>Limitations</a:t>
            </a:r>
            <a:r>
              <a:rPr lang="en-MY" dirty="0">
                <a:solidFill>
                  <a:srgbClr val="7030A0"/>
                </a:solidFill>
              </a:rPr>
              <a:t>:</a:t>
            </a:r>
          </a:p>
          <a:p>
            <a:pPr lvl="1"/>
            <a:r>
              <a:rPr lang="en-MY" dirty="0"/>
              <a:t>The study is limited to the data available from participating organizations.</a:t>
            </a:r>
          </a:p>
          <a:p>
            <a:pPr lvl="1"/>
            <a:r>
              <a:rPr lang="en-MY" dirty="0"/>
              <a:t>The results may not be generalizable to all types of networks or geographical regions.</a:t>
            </a:r>
          </a:p>
          <a:p>
            <a:r>
              <a:rPr lang="en-MY" dirty="0"/>
              <a:t>By defining these boundaries, the research aims to provide a focused and manageable study that contributes valuable insights into the development of effective intrusion detection systems.</a:t>
            </a:r>
            <a:endParaRPr lang="en-US" sz="2200" dirty="0"/>
          </a:p>
          <a:p>
            <a:pPr lvl="1"/>
            <a:endParaRPr lang="ms-MY" sz="2200" dirty="0"/>
          </a:p>
        </p:txBody>
      </p:sp>
      <p:sp>
        <p:nvSpPr>
          <p:cNvPr id="4" name="Slide Number Placeholder 3"/>
          <p:cNvSpPr>
            <a:spLocks noGrp="1"/>
          </p:cNvSpPr>
          <p:nvPr>
            <p:ph type="sldNum" sz="quarter" idx="12"/>
          </p:nvPr>
        </p:nvSpPr>
        <p:spPr/>
        <p:txBody>
          <a:bodyPr/>
          <a:lstStyle/>
          <a:p>
            <a:fld id="{7E4255BD-13A2-4718-96FB-F348F7D160EB}" type="slidenum">
              <a:rPr lang="ms-MY" smtClean="0"/>
              <a:t>31</a:t>
            </a:fld>
            <a:endParaRPr lang="ms-MY"/>
          </a:p>
        </p:txBody>
      </p:sp>
    </p:spTree>
    <p:extLst>
      <p:ext uri="{BB962C8B-B14F-4D97-AF65-F5344CB8AC3E}">
        <p14:creationId xmlns:p14="http://schemas.microsoft.com/office/powerpoint/2010/main" val="26570484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7E4255BD-13A2-4718-96FB-F348F7D160EB}" type="slidenum">
              <a:rPr lang="ms-MY" smtClean="0"/>
              <a:t>32</a:t>
            </a:fld>
            <a:endParaRPr lang="ms-MY"/>
          </a:p>
        </p:txBody>
      </p:sp>
      <p:pic>
        <p:nvPicPr>
          <p:cNvPr id="2050"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904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07659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5286</TotalTime>
  <Words>2392</Words>
  <Application>Microsoft Office PowerPoint</Application>
  <PresentationFormat>Widescreen</PresentationFormat>
  <Paragraphs>214</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Calibri</vt:lpstr>
      <vt:lpstr>Rockwell</vt:lpstr>
      <vt:lpstr>Rockwell Condensed</vt:lpstr>
      <vt:lpstr>Wingdings</vt:lpstr>
      <vt:lpstr>Wood Type</vt:lpstr>
      <vt:lpstr>Chapter 1</vt:lpstr>
      <vt:lpstr>OUTLINE…</vt:lpstr>
      <vt:lpstr>Introduction</vt:lpstr>
      <vt:lpstr>Introduction</vt:lpstr>
      <vt:lpstr>Introduction</vt:lpstr>
      <vt:lpstr>Introduction Example</vt:lpstr>
      <vt:lpstr>Introduction Example</vt:lpstr>
      <vt:lpstr>Introduction Example</vt:lpstr>
      <vt:lpstr>PowerPoint Presentation</vt:lpstr>
      <vt:lpstr>Problem statement </vt:lpstr>
      <vt:lpstr>What is problem statement</vt:lpstr>
      <vt:lpstr>Steps to Write a Problem Statement</vt:lpstr>
      <vt:lpstr>Steps to Write a Problem Statement</vt:lpstr>
      <vt:lpstr>Problem Statement Example</vt:lpstr>
      <vt:lpstr>Problem Statement Example</vt:lpstr>
      <vt:lpstr>How?</vt:lpstr>
      <vt:lpstr>Example 1: problem statement (problem based)</vt:lpstr>
      <vt:lpstr>Example 2: problem statement (Technique/method based)</vt:lpstr>
      <vt:lpstr>PowerPoint Presentation</vt:lpstr>
      <vt:lpstr>Research objective</vt:lpstr>
      <vt:lpstr>WHAT is Research objective</vt:lpstr>
      <vt:lpstr>How?</vt:lpstr>
      <vt:lpstr>Example 1: research objective (problem based) Cont…</vt:lpstr>
      <vt:lpstr>Example 2: Research objective (technique/method based) Cont…</vt:lpstr>
      <vt:lpstr>PowerPoint Presentation</vt:lpstr>
      <vt:lpstr>PowerPoint Presentation</vt:lpstr>
      <vt:lpstr>Research scope</vt:lpstr>
      <vt:lpstr>What is research scope</vt:lpstr>
      <vt:lpstr>What is research scope</vt:lpstr>
      <vt:lpstr>Scope of the Study Example</vt:lpstr>
      <vt:lpstr>Scope of the Study 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dc:title>
  <dc:creator>Zam</dc:creator>
  <cp:lastModifiedBy>Zalili</cp:lastModifiedBy>
  <cp:revision>170</cp:revision>
  <dcterms:created xsi:type="dcterms:W3CDTF">2017-02-15T08:20:06Z</dcterms:created>
  <dcterms:modified xsi:type="dcterms:W3CDTF">2024-10-21T05:59:14Z</dcterms:modified>
</cp:coreProperties>
</file>